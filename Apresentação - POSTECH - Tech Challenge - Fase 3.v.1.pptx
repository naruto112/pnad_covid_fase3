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57" r:id="rId4"/>
    <p:sldId id="277" r:id="rId5"/>
    <p:sldId id="279" r:id="rId6"/>
    <p:sldId id="281" r:id="rId7"/>
    <p:sldId id="260" r:id="rId8"/>
    <p:sldId id="285" r:id="rId9"/>
    <p:sldId id="284" r:id="rId10"/>
    <p:sldId id="262" r:id="rId11"/>
    <p:sldId id="259" r:id="rId12"/>
    <p:sldId id="280" r:id="rId13"/>
    <p:sldId id="282" r:id="rId14"/>
    <p:sldId id="283" r:id="rId15"/>
    <p:sldId id="286" r:id="rId16"/>
    <p:sldId id="287" r:id="rId17"/>
    <p:sldId id="288" r:id="rId18"/>
    <p:sldId id="265" r:id="rId19"/>
  </p:sldIdLst>
  <p:sldSz cx="18288000" cy="10287000"/>
  <p:notesSz cx="6858000" cy="9144000"/>
  <p:embeddedFontLst>
    <p:embeddedFont>
      <p:font typeface="맑은 고딕" panose="020B0503020000020004" pitchFamily="34" charset="-127"/>
      <p:regular r:id="rId21"/>
      <p:bold r:id="rId22"/>
    </p:embeddedFont>
    <p:embeddedFont>
      <p:font typeface="Eastman Grotesque" panose="020B0604020202020204" charset="0"/>
      <p:regular r:id="rId23"/>
    </p:embeddedFont>
    <p:embeddedFont>
      <p:font typeface="Eastman Grotesque Bold" panose="020B0604020202020204" charset="0"/>
      <p:regular r:id="rId24"/>
      <p:bold r:id="rId25"/>
    </p:embeddedFont>
    <p:embeddedFont>
      <p:font typeface="League Spartan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20059"/>
    <a:srgbClr val="BF0060"/>
    <a:srgbClr val="EE2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00948-21F8-C81D-6496-98989094AA4F}" v="628" dt="2026-05-28T23:56:40.481"/>
    <p1510:client id="{529AF401-8CCE-4C0C-B543-633ADB292899}" v="496" dt="2026-05-27T00:07:32.313"/>
    <p1510:client id="{9A33AC90-9FE8-870E-15B7-35A0D5A6ADAB}" v="24" dt="2026-05-28T23:42:06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171E8-0AA7-400C-92C5-28C52C9E4AA5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15E37-91FC-49F2-891C-10FF43E09E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88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D61BB-CA08-4C52-9749-B143D053177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417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15E37-91FC-49F2-891C-10FF43E09E4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242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527D2-1E10-D3CF-5DA9-F717ADAD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E1912C-2272-94A7-4DCE-F76B2E7F3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DA5328-BE73-3574-2748-CB1D1E72A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2CAAF7-027E-E56C-C501-837D212CC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15E37-91FC-49F2-891C-10FF43E09E4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592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18B3-8744-D184-FE25-9F20E9DF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D8326D-944B-38C7-656F-85142F7C4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804A67-54D9-9E40-1BB9-0B9655DCD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84667F-C7C6-601B-E27E-BBC352C5F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15E37-91FC-49F2-891C-10FF43E09E4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93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5A1D-3502-D147-8C2A-AC4853AA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7DB36E-6760-0611-E64C-EB99DC001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BDAF5C-EBA4-C2B4-2F91-FE80FCD8F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BD8985-79AA-3775-FF39-504A5534D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15E37-91FC-49F2-891C-10FF43E09E4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680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15E37-91FC-49F2-891C-10FF43E09E4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158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85294" y="430883"/>
            <a:ext cx="17359796" cy="10863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1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2823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10675"/>
            <a:ext cx="9575136" cy="0"/>
          </a:xfrm>
          <a:prstGeom prst="line">
            <a:avLst/>
          </a:prstGeom>
          <a:ln w="95250" cap="flat">
            <a:solidFill>
              <a:srgbClr val="ED14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3602665"/>
            <a:ext cx="11529169" cy="368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52"/>
              </a:lnSpc>
            </a:pPr>
            <a:r>
              <a:rPr lang="en-US" sz="12983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</a:t>
            </a:r>
          </a:p>
          <a:p>
            <a:pPr algn="l">
              <a:lnSpc>
                <a:spcPts val="14152"/>
              </a:lnSpc>
            </a:pPr>
            <a:r>
              <a:rPr lang="en-US" sz="12983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0" y="8165441"/>
            <a:ext cx="11163300" cy="44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Comportamento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da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população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na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época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da pandemia da COVID-19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03836" y="8721811"/>
            <a:ext cx="6655464" cy="55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4"/>
              </a:lnSpc>
            </a:pPr>
            <a:r>
              <a:rPr lang="en-US" sz="1603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Tech Challenge é o projeto que englobará os conhecimentos obtidos em todas as disciplinas da fase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1028700"/>
            <a:ext cx="16230600" cy="519683"/>
            <a:chOff x="0" y="0"/>
            <a:chExt cx="21640800" cy="692911"/>
          </a:xfrm>
        </p:grpSpPr>
        <p:sp>
          <p:nvSpPr>
            <p:cNvPr id="7" name="Freeform 7"/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7289744"/>
            <a:ext cx="3301420" cy="53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3717">
                <a:solidFill>
                  <a:srgbClr val="ED14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FASE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E909F2-CC74-9368-59F3-70F104EDD229}"/>
              </a:ext>
            </a:extLst>
          </p:cNvPr>
          <p:cNvSpPr txBox="1"/>
          <p:nvPr/>
        </p:nvSpPr>
        <p:spPr>
          <a:xfrm>
            <a:off x="15353072" y="1002892"/>
            <a:ext cx="243348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700">
              <a:solidFill>
                <a:schemeClr val="bg1"/>
              </a:solidFill>
            </a:endParaRPr>
          </a:p>
        </p:txBody>
      </p:sp>
      <p:sp>
        <p:nvSpPr>
          <p:cNvPr id="3" name="Freeform: Shape 56">
            <a:extLst>
              <a:ext uri="{FF2B5EF4-FFF2-40B4-BE49-F238E27FC236}">
                <a16:creationId xmlns:a16="http://schemas.microsoft.com/office/drawing/2014/main" id="{B3A6D850-1915-7107-E764-92394521562F}"/>
              </a:ext>
            </a:extLst>
          </p:cNvPr>
          <p:cNvSpPr/>
          <p:nvPr/>
        </p:nvSpPr>
        <p:spPr>
          <a:xfrm>
            <a:off x="-4716" y="-25714"/>
            <a:ext cx="5625090" cy="10312715"/>
          </a:xfrm>
          <a:custGeom>
            <a:avLst/>
            <a:gdLst>
              <a:gd name="connsiteX0" fmla="*/ 0 w 5625090"/>
              <a:gd name="connsiteY0" fmla="*/ 0 h 10312714"/>
              <a:gd name="connsiteX1" fmla="*/ 1570228 w 5625090"/>
              <a:gd name="connsiteY1" fmla="*/ 0 h 10312714"/>
              <a:gd name="connsiteX2" fmla="*/ 1817757 w 5625090"/>
              <a:gd name="connsiteY2" fmla="*/ 75589 h 10312714"/>
              <a:gd name="connsiteX3" fmla="*/ 4871253 w 5625090"/>
              <a:gd name="connsiteY3" fmla="*/ 2585369 h 10312714"/>
              <a:gd name="connsiteX4" fmla="*/ 4871749 w 5625090"/>
              <a:gd name="connsiteY4" fmla="*/ 8209538 h 10312714"/>
              <a:gd name="connsiteX5" fmla="*/ 2813132 w 5625090"/>
              <a:gd name="connsiteY5" fmla="*/ 10268133 h 10312714"/>
              <a:gd name="connsiteX6" fmla="*/ 2729795 w 5625090"/>
              <a:gd name="connsiteY6" fmla="*/ 10312714 h 10312714"/>
              <a:gd name="connsiteX7" fmla="*/ 910 w 5625090"/>
              <a:gd name="connsiteY7" fmla="*/ 10312714 h 1031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5090" h="10312714">
                <a:moveTo>
                  <a:pt x="0" y="0"/>
                </a:moveTo>
                <a:lnTo>
                  <a:pt x="1570228" y="0"/>
                </a:lnTo>
                <a:lnTo>
                  <a:pt x="1817757" y="75589"/>
                </a:lnTo>
                <a:cubicBezTo>
                  <a:pt x="3086740" y="508792"/>
                  <a:pt x="4180357" y="1389118"/>
                  <a:pt x="4871253" y="2585369"/>
                </a:cubicBezTo>
                <a:cubicBezTo>
                  <a:pt x="5876193" y="4325371"/>
                  <a:pt x="5876382" y="6469359"/>
                  <a:pt x="4871749" y="8209538"/>
                </a:cubicBezTo>
                <a:cubicBezTo>
                  <a:pt x="4369433" y="9079628"/>
                  <a:pt x="3654077" y="9782654"/>
                  <a:pt x="2813132" y="10268133"/>
                </a:cubicBezTo>
                <a:lnTo>
                  <a:pt x="2729795" y="10312714"/>
                </a:lnTo>
                <a:lnTo>
                  <a:pt x="910" y="10312714"/>
                </a:lnTo>
                <a:close/>
              </a:path>
            </a:pathLst>
          </a:custGeom>
          <a:solidFill>
            <a:srgbClr val="B20059"/>
          </a:solidFill>
          <a:ln>
            <a:solidFill>
              <a:srgbClr val="BF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C0066"/>
              </a:solidFill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EBFEA18-E1D7-457D-CDEC-3C7B75032B49}"/>
              </a:ext>
            </a:extLst>
          </p:cNvPr>
          <p:cNvSpPr txBox="1"/>
          <p:nvPr/>
        </p:nvSpPr>
        <p:spPr>
          <a:xfrm>
            <a:off x="5754407" y="235352"/>
            <a:ext cx="12580235" cy="13388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8100">
                <a:solidFill>
                  <a:schemeClr val="bg1"/>
                </a:solidFill>
                <a:cs typeface="Arial" pitchFamily="34" charset="0"/>
              </a:rPr>
              <a:t>Agenda Tech Challenge</a:t>
            </a:r>
            <a:endParaRPr lang="ko-KR" altLang="en-US" sz="810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197A44C6-1D44-3EFA-D326-320D24D23F58}"/>
              </a:ext>
            </a:extLst>
          </p:cNvPr>
          <p:cNvGrpSpPr/>
          <p:nvPr/>
        </p:nvGrpSpPr>
        <p:grpSpPr>
          <a:xfrm>
            <a:off x="6842939" y="1620346"/>
            <a:ext cx="10254425" cy="2662268"/>
            <a:chOff x="4818251" y="789601"/>
            <a:chExt cx="6836282" cy="1774845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A463C6CB-2FF3-F807-5D41-39EB7D5E5668}"/>
                </a:ext>
              </a:extLst>
            </p:cNvPr>
            <p:cNvGrpSpPr/>
            <p:nvPr/>
          </p:nvGrpSpPr>
          <p:grpSpPr>
            <a:xfrm>
              <a:off x="6032129" y="789601"/>
              <a:ext cx="5622404" cy="1774845"/>
              <a:chOff x="6557475" y="719431"/>
              <a:chExt cx="5622404" cy="1774845"/>
            </a:xfrm>
          </p:grpSpPr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B724CF02-38AC-7B46-4134-DDE446EEB1F7}"/>
                  </a:ext>
                </a:extLst>
              </p:cNvPr>
              <p:cNvSpPr txBox="1"/>
              <p:nvPr/>
            </p:nvSpPr>
            <p:spPr>
              <a:xfrm>
                <a:off x="6589627" y="1406799"/>
                <a:ext cx="5590252" cy="10874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r>
                  <a:rPr lang="pt-BR" sz="1950" dirty="0">
                    <a:solidFill>
                      <a:schemeClr val="bg1"/>
                    </a:solidFill>
                  </a:rPr>
                  <a:t>• </a:t>
                </a:r>
                <a:r>
                  <a:rPr lang="pt-BR" sz="2000" dirty="0">
                    <a:solidFill>
                      <a:schemeClr val="bg1"/>
                    </a:solidFill>
                  </a:rPr>
                  <a:t>O Head de Dados pediu para que o grupo entrasse na base de dados do PNAD-COVID-19 do IBGE e organizasse esta base para análise, utilizando Banco de Dados em </a:t>
                </a:r>
                <a:r>
                  <a:rPr lang="pt-BR" sz="2000">
                    <a:solidFill>
                      <a:schemeClr val="bg1"/>
                    </a:solidFill>
                  </a:rPr>
                  <a:t>Nuvem</a:t>
                </a:r>
                <a:r>
                  <a:rPr lang="pt-BR" sz="1950">
                    <a:solidFill>
                      <a:schemeClr val="bg1"/>
                    </a:solidFill>
                  </a:rPr>
                  <a:t>.</a:t>
                </a:r>
                <a:r>
                  <a:rPr lang="pt-BR" sz="195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pt-BR" sz="1950" dirty="0">
                    <a:solidFill>
                      <a:schemeClr val="bg1"/>
                    </a:solidFill>
                  </a:rPr>
                  <a:t>•</a:t>
                </a:r>
                <a:r>
                  <a:rPr lang="pt-BR" sz="2000" dirty="0">
                    <a:solidFill>
                      <a:schemeClr val="bg1"/>
                    </a:solidFill>
                  </a:rPr>
                  <a:t> Seu objetivo será trazer uma breve análise dessas informações, </a:t>
                </a:r>
                <a:r>
                  <a:rPr lang="pt-BR" sz="2000">
                    <a:solidFill>
                      <a:schemeClr val="bg1"/>
                    </a:solidFill>
                  </a:rPr>
                  <a:t>como foi a organização do banco.</a:t>
                </a:r>
                <a:endParaRPr lang="pt-BR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04639FF2-CDF3-49CC-719E-5257A9B9471E}"/>
                  </a:ext>
                </a:extLst>
              </p:cNvPr>
              <p:cNvSpPr txBox="1"/>
              <p:nvPr/>
            </p:nvSpPr>
            <p:spPr>
              <a:xfrm>
                <a:off x="6557475" y="719431"/>
                <a:ext cx="4507692" cy="477054"/>
              </a:xfrm>
              <a:prstGeom prst="rect">
                <a:avLst/>
              </a:prstGeom>
              <a:noFill/>
            </p:spPr>
            <p:txBody>
              <a:bodyPr wrap="square" lIns="162000" rIns="162000" rtlCol="0" anchor="ctr">
                <a:spAutoFit/>
              </a:bodyPr>
              <a:lstStyle/>
              <a:p>
                <a:r>
                  <a:rPr lang="en-US" altLang="ko-KR" sz="4050" b="1">
                    <a:solidFill>
                      <a:schemeClr val="bg1"/>
                    </a:solidFill>
                    <a:cs typeface="Arial" pitchFamily="34" charset="0"/>
                  </a:rPr>
                  <a:t>O problema do negócio</a:t>
                </a:r>
                <a:endParaRPr lang="ko-KR" altLang="en-US" sz="4050" b="1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4BF99852-46CB-2967-0020-910A0A4BD6F6}"/>
                </a:ext>
              </a:extLst>
            </p:cNvPr>
            <p:cNvSpPr txBox="1"/>
            <p:nvPr/>
          </p:nvSpPr>
          <p:spPr>
            <a:xfrm>
              <a:off x="4818251" y="1309814"/>
              <a:ext cx="958096" cy="615553"/>
            </a:xfrm>
            <a:prstGeom prst="rect">
              <a:avLst/>
            </a:prstGeom>
            <a:noFill/>
          </p:spPr>
          <p:txBody>
            <a:bodyPr wrap="square" lIns="162000" rIns="162000" rtlCol="0" anchor="ctr">
              <a:spAutoFit/>
            </a:bodyPr>
            <a:lstStyle/>
            <a:p>
              <a:pPr algn="ctr"/>
              <a:r>
                <a:rPr lang="en-US" altLang="ko-KR" sz="5400" b="1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5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7">
            <a:extLst>
              <a:ext uri="{FF2B5EF4-FFF2-40B4-BE49-F238E27FC236}">
                <a16:creationId xmlns:a16="http://schemas.microsoft.com/office/drawing/2014/main" id="{BBAADF7E-FC2C-6DB5-5AD4-CA045BC6AFCA}"/>
              </a:ext>
            </a:extLst>
          </p:cNvPr>
          <p:cNvGrpSpPr/>
          <p:nvPr/>
        </p:nvGrpSpPr>
        <p:grpSpPr>
          <a:xfrm>
            <a:off x="7946371" y="4763387"/>
            <a:ext cx="9960104" cy="2410679"/>
            <a:chOff x="5017695" y="1380507"/>
            <a:chExt cx="6640068" cy="1130809"/>
          </a:xfrm>
        </p:grpSpPr>
        <p:grpSp>
          <p:nvGrpSpPr>
            <p:cNvPr id="12" name="Group 18">
              <a:extLst>
                <a:ext uri="{FF2B5EF4-FFF2-40B4-BE49-F238E27FC236}">
                  <a16:creationId xmlns:a16="http://schemas.microsoft.com/office/drawing/2014/main" id="{BFC127BA-BCFF-C556-AE9A-F66CCCBF5324}"/>
                </a:ext>
              </a:extLst>
            </p:cNvPr>
            <p:cNvGrpSpPr/>
            <p:nvPr/>
          </p:nvGrpSpPr>
          <p:grpSpPr>
            <a:xfrm>
              <a:off x="5946791" y="1380507"/>
              <a:ext cx="5710972" cy="1130809"/>
              <a:chOff x="6472137" y="1310337"/>
              <a:chExt cx="5710972" cy="1130809"/>
            </a:xfrm>
          </p:grpSpPr>
          <p:sp>
            <p:nvSpPr>
              <p:cNvPr id="14" name="TextBox 20">
                <a:extLst>
                  <a:ext uri="{FF2B5EF4-FFF2-40B4-BE49-F238E27FC236}">
                    <a16:creationId xmlns:a16="http://schemas.microsoft.com/office/drawing/2014/main" id="{D585D477-7F37-E128-5F78-9EBF545E3F1A}"/>
                  </a:ext>
                </a:extLst>
              </p:cNvPr>
              <p:cNvSpPr txBox="1"/>
              <p:nvPr/>
            </p:nvSpPr>
            <p:spPr>
              <a:xfrm>
                <a:off x="6472137" y="1690407"/>
                <a:ext cx="5710972" cy="750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r>
                  <a:rPr lang="pt-BR" sz="1950" dirty="0">
                    <a:solidFill>
                      <a:schemeClr val="bg1"/>
                    </a:solidFill>
                  </a:rPr>
                  <a:t>• </a:t>
                </a:r>
                <a:r>
                  <a:rPr lang="pt-BR" sz="2000" dirty="0">
                    <a:solidFill>
                      <a:schemeClr val="bg1"/>
                    </a:solidFill>
                  </a:rPr>
                  <a:t>Arquitetura do </a:t>
                </a:r>
                <a:r>
                  <a:rPr lang="pt-BR" sz="2000" dirty="0" err="1">
                    <a:solidFill>
                      <a:schemeClr val="bg1"/>
                    </a:solidFill>
                  </a:rPr>
                  <a:t>pepiline</a:t>
                </a:r>
                <a:r>
                  <a:rPr lang="pt-BR" sz="2000" dirty="0">
                    <a:solidFill>
                      <a:schemeClr val="bg1"/>
                    </a:solidFill>
                  </a:rPr>
                  <a:t> e construção do modelo.</a:t>
                </a:r>
              </a:p>
              <a:p>
                <a:r>
                  <a:rPr lang="pt-BR" sz="1950" dirty="0">
                    <a:solidFill>
                      <a:schemeClr val="bg1"/>
                    </a:solidFill>
                  </a:rPr>
                  <a:t>• </a:t>
                </a:r>
                <a:r>
                  <a:rPr lang="pt-BR" sz="1950">
                    <a:solidFill>
                      <a:schemeClr val="bg1"/>
                    </a:solidFill>
                  </a:rPr>
                  <a:t>Bases de</a:t>
                </a:r>
                <a:r>
                  <a:rPr lang="pt-BR" sz="1950" dirty="0">
                    <a:solidFill>
                      <a:schemeClr val="bg1"/>
                    </a:solidFill>
                  </a:rPr>
                  <a:t> saída (dimensão e temáticas).</a:t>
                </a:r>
                <a:endParaRPr lang="pt-BR" sz="1950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r>
                  <a:rPr lang="pt-BR" sz="1950">
                    <a:solidFill>
                      <a:schemeClr val="bg1"/>
                    </a:solidFill>
                  </a:rPr>
                  <a:t>• Tabelas fatos e dimensão.</a:t>
                </a:r>
                <a:endParaRPr lang="pt-BR" sz="195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r>
                  <a:rPr lang="pt-BR" sz="1950" dirty="0">
                    <a:solidFill>
                      <a:schemeClr val="bg1"/>
                    </a:solidFill>
                  </a:rPr>
                  <a:t>• Fluxo de </a:t>
                </a:r>
                <a:r>
                  <a:rPr lang="pt-BR" sz="1950">
                    <a:solidFill>
                      <a:schemeClr val="bg1"/>
                    </a:solidFill>
                  </a:rPr>
                  <a:t>transformação.</a:t>
                </a:r>
                <a:endParaRPr lang="pt-BR" sz="1950" dirty="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r>
                  <a:rPr lang="pt-BR" sz="1950" dirty="0">
                    <a:solidFill>
                      <a:schemeClr val="bg1"/>
                    </a:solidFill>
                  </a:rPr>
                  <a:t>• </a:t>
                </a:r>
                <a:r>
                  <a:rPr lang="pt-BR" sz="1950">
                    <a:solidFill>
                      <a:schemeClr val="bg1"/>
                    </a:solidFill>
                  </a:rPr>
                  <a:t>Chave de Identificação e peso amostral.</a:t>
                </a:r>
                <a:endParaRPr lang="en-US" altLang="ko-KR" sz="195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5" name="TextBox 21">
                <a:extLst>
                  <a:ext uri="{FF2B5EF4-FFF2-40B4-BE49-F238E27FC236}">
                    <a16:creationId xmlns:a16="http://schemas.microsoft.com/office/drawing/2014/main" id="{E19E5B22-575B-E56C-00F2-DD5BB788498F}"/>
                  </a:ext>
                </a:extLst>
              </p:cNvPr>
              <p:cNvSpPr txBox="1"/>
              <p:nvPr/>
            </p:nvSpPr>
            <p:spPr>
              <a:xfrm>
                <a:off x="6538602" y="1310337"/>
                <a:ext cx="4507692" cy="335667"/>
              </a:xfrm>
              <a:prstGeom prst="rect">
                <a:avLst/>
              </a:prstGeom>
              <a:noFill/>
            </p:spPr>
            <p:txBody>
              <a:bodyPr wrap="square" lIns="162000" rIns="162000" rtlCol="0" anchor="ctr">
                <a:spAutoFit/>
              </a:bodyPr>
              <a:lstStyle/>
              <a:p>
                <a:r>
                  <a:rPr lang="en-US" altLang="ko-KR" sz="4050" b="1">
                    <a:solidFill>
                      <a:schemeClr val="bg1"/>
                    </a:solidFill>
                    <a:cs typeface="Arial" pitchFamily="34" charset="0"/>
                  </a:rPr>
                  <a:t>Storytelling Técnico </a:t>
                </a:r>
                <a:endParaRPr lang="ko-KR" altLang="en-US" sz="4050" b="1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1E2EB97D-6BE4-3367-B868-9A880EBCE2E2}"/>
                </a:ext>
              </a:extLst>
            </p:cNvPr>
            <p:cNvSpPr txBox="1"/>
            <p:nvPr/>
          </p:nvSpPr>
          <p:spPr>
            <a:xfrm>
              <a:off x="5017695" y="1396153"/>
              <a:ext cx="958096" cy="433119"/>
            </a:xfrm>
            <a:prstGeom prst="rect">
              <a:avLst/>
            </a:prstGeom>
            <a:noFill/>
          </p:spPr>
          <p:txBody>
            <a:bodyPr wrap="square" lIns="162000" rIns="162000" rtlCol="0" anchor="ctr">
              <a:spAutoFit/>
            </a:bodyPr>
            <a:lstStyle/>
            <a:p>
              <a:pPr algn="ctr"/>
              <a:r>
                <a:rPr lang="en-US" altLang="ko-KR" sz="5400" b="1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5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7">
            <a:extLst>
              <a:ext uri="{FF2B5EF4-FFF2-40B4-BE49-F238E27FC236}">
                <a16:creationId xmlns:a16="http://schemas.microsoft.com/office/drawing/2014/main" id="{597F092A-A470-9102-BF1F-1496A795BB2F}"/>
              </a:ext>
            </a:extLst>
          </p:cNvPr>
          <p:cNvGrpSpPr/>
          <p:nvPr/>
        </p:nvGrpSpPr>
        <p:grpSpPr>
          <a:xfrm>
            <a:off x="7087243" y="7634313"/>
            <a:ext cx="10336544" cy="2300060"/>
            <a:chOff x="4882797" y="1654384"/>
            <a:chExt cx="6891028" cy="1476970"/>
          </a:xfrm>
        </p:grpSpPr>
        <p:grpSp>
          <p:nvGrpSpPr>
            <p:cNvPr id="22" name="Group 28">
              <a:extLst>
                <a:ext uri="{FF2B5EF4-FFF2-40B4-BE49-F238E27FC236}">
                  <a16:creationId xmlns:a16="http://schemas.microsoft.com/office/drawing/2014/main" id="{5B3D6C96-6444-BD61-CFF6-F1DB853657E4}"/>
                </a:ext>
              </a:extLst>
            </p:cNvPr>
            <p:cNvGrpSpPr/>
            <p:nvPr/>
          </p:nvGrpSpPr>
          <p:grpSpPr>
            <a:xfrm>
              <a:off x="5840893" y="1676292"/>
              <a:ext cx="5932932" cy="1455062"/>
              <a:chOff x="6366239" y="1606122"/>
              <a:chExt cx="5932932" cy="1455062"/>
            </a:xfrm>
          </p:grpSpPr>
          <p:sp>
            <p:nvSpPr>
              <p:cNvPr id="24" name="TextBox 30">
                <a:extLst>
                  <a:ext uri="{FF2B5EF4-FFF2-40B4-BE49-F238E27FC236}">
                    <a16:creationId xmlns:a16="http://schemas.microsoft.com/office/drawing/2014/main" id="{B446D9F2-6D66-C808-723D-B9328C2B6D3B}"/>
                  </a:ext>
                </a:extLst>
              </p:cNvPr>
              <p:cNvSpPr txBox="1"/>
              <p:nvPr/>
            </p:nvSpPr>
            <p:spPr>
              <a:xfrm>
                <a:off x="6458593" y="2038413"/>
                <a:ext cx="5840578" cy="102277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marL="342900" indent="-342900">
                  <a:buFont typeface="Arial"/>
                  <a:buChar char="•"/>
                </a:pPr>
                <a:r>
                  <a:rPr lang="pt-BR" sz="1950">
                    <a:solidFill>
                      <a:schemeClr val="bg1"/>
                    </a:solidFill>
                  </a:rPr>
                  <a:t>Comportamento dos sintomas.</a:t>
                </a:r>
                <a:endParaRPr lang="pt-BR" sz="195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pt-BR" sz="1950">
                    <a:solidFill>
                      <a:schemeClr val="bg1"/>
                    </a:solidFill>
                  </a:rPr>
                  <a:t>Comportamento da população.</a:t>
                </a:r>
                <a:endParaRPr lang="pt-BR" sz="195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pt-BR" sz="1950">
                    <a:solidFill>
                      <a:schemeClr val="bg1"/>
                    </a:solidFill>
                  </a:rPr>
                  <a:t>Comportamento econômico.</a:t>
                </a:r>
                <a:endParaRPr lang="pt-BR" sz="1950">
                  <a:solidFill>
                    <a:schemeClr val="bg1"/>
                  </a:solidFill>
                  <a:ea typeface="Calibri"/>
                  <a:cs typeface="Calibri"/>
                </a:endParaRPr>
              </a:p>
              <a:p>
                <a:pPr marL="342900" indent="-342900">
                  <a:buFont typeface="Arial"/>
                  <a:buChar char="•"/>
                </a:pPr>
                <a:r>
                  <a:rPr lang="pt-BR" sz="1950" dirty="0">
                    <a:solidFill>
                      <a:schemeClr val="bg1"/>
                    </a:solidFill>
                    <a:ea typeface="Calibri"/>
                    <a:cs typeface="Calibri"/>
                  </a:rPr>
                  <a:t>Conclusões e </a:t>
                </a:r>
                <a:r>
                  <a:rPr lang="pt-BR" sz="1950">
                    <a:solidFill>
                      <a:schemeClr val="bg1"/>
                    </a:solidFill>
                    <a:ea typeface="Calibri"/>
                    <a:cs typeface="Calibri"/>
                  </a:rPr>
                  <a:t>recomendações.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pt-BR" sz="1950">
                    <a:solidFill>
                      <a:schemeClr val="bg1"/>
                    </a:solidFill>
                    <a:ea typeface="Calibri"/>
                    <a:cs typeface="Calibri"/>
                  </a:rPr>
                  <a:t>Análise refinadas.</a:t>
                </a:r>
                <a:endParaRPr lang="pt-BR" sz="1950" dirty="0">
                  <a:solidFill>
                    <a:schemeClr val="bg1"/>
                  </a:solidFill>
                  <a:ea typeface="Calibri"/>
                  <a:cs typeface="Calibri"/>
                </a:endParaRPr>
              </a:p>
            </p:txBody>
          </p:sp>
          <p:sp>
            <p:nvSpPr>
              <p:cNvPr id="25" name="TextBox 31">
                <a:extLst>
                  <a:ext uri="{FF2B5EF4-FFF2-40B4-BE49-F238E27FC236}">
                    <a16:creationId xmlns:a16="http://schemas.microsoft.com/office/drawing/2014/main" id="{E4376198-0E9E-6977-6087-F27B008655D5}"/>
                  </a:ext>
                </a:extLst>
              </p:cNvPr>
              <p:cNvSpPr txBox="1"/>
              <p:nvPr/>
            </p:nvSpPr>
            <p:spPr>
              <a:xfrm>
                <a:off x="6366239" y="1606122"/>
                <a:ext cx="4507692" cy="459506"/>
              </a:xfrm>
              <a:prstGeom prst="rect">
                <a:avLst/>
              </a:prstGeom>
              <a:noFill/>
            </p:spPr>
            <p:txBody>
              <a:bodyPr wrap="square" lIns="162000" tIns="45720" rIns="162000" bIns="45720" rtlCol="0" anchor="ctr">
                <a:spAutoFit/>
              </a:bodyPr>
              <a:lstStyle/>
              <a:p>
                <a:r>
                  <a:rPr lang="en-US" altLang="ko-KR" sz="4050" b="1" dirty="0" err="1">
                    <a:solidFill>
                      <a:schemeClr val="bg1"/>
                    </a:solidFill>
                    <a:ea typeface="맑은 고딕"/>
                    <a:cs typeface="Arial"/>
                  </a:rPr>
                  <a:t>Resultado</a:t>
                </a:r>
                <a:r>
                  <a:rPr lang="en-US" altLang="ko-KR" sz="4050" b="1" dirty="0">
                    <a:solidFill>
                      <a:schemeClr val="bg1"/>
                    </a:solidFill>
                    <a:ea typeface="맑은 고딕"/>
                    <a:cs typeface="Arial"/>
                  </a:rPr>
                  <a:t> da </a:t>
                </a:r>
                <a:r>
                  <a:rPr lang="en-US" altLang="ko-KR" sz="4050" b="1" dirty="0" err="1">
                    <a:solidFill>
                      <a:schemeClr val="bg1"/>
                    </a:solidFill>
                    <a:ea typeface="맑은 고딕"/>
                    <a:cs typeface="Arial"/>
                  </a:rPr>
                  <a:t>Análise</a:t>
                </a:r>
                <a:endParaRPr lang="en-US" altLang="ko-KR" sz="4050" b="1" dirty="0" err="1">
                  <a:solidFill>
                    <a:schemeClr val="bg1"/>
                  </a:solidFill>
                  <a:ea typeface="맑은 고딕"/>
                  <a:cs typeface="Arial" pitchFamily="34" charset="0"/>
                </a:endParaRPr>
              </a:p>
            </p:txBody>
          </p:sp>
        </p:grpSp>
        <p:sp>
          <p:nvSpPr>
            <p:cNvPr id="23" name="TextBox 29">
              <a:extLst>
                <a:ext uri="{FF2B5EF4-FFF2-40B4-BE49-F238E27FC236}">
                  <a16:creationId xmlns:a16="http://schemas.microsoft.com/office/drawing/2014/main" id="{1D64BB19-D927-C0F5-FF29-7C82A2D50C86}"/>
                </a:ext>
              </a:extLst>
            </p:cNvPr>
            <p:cNvSpPr txBox="1"/>
            <p:nvPr/>
          </p:nvSpPr>
          <p:spPr>
            <a:xfrm>
              <a:off x="4882797" y="1654384"/>
              <a:ext cx="958096" cy="592911"/>
            </a:xfrm>
            <a:prstGeom prst="rect">
              <a:avLst/>
            </a:prstGeom>
            <a:noFill/>
          </p:spPr>
          <p:txBody>
            <a:bodyPr wrap="square" lIns="162000" rIns="162000" rtlCol="0" anchor="ctr">
              <a:spAutoFit/>
            </a:bodyPr>
            <a:lstStyle/>
            <a:p>
              <a:pPr algn="ctr"/>
              <a:r>
                <a:rPr lang="en-US" altLang="ko-KR" sz="5400" b="1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5400" b="1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7" name="Freeform: Shape 4">
            <a:extLst>
              <a:ext uri="{FF2B5EF4-FFF2-40B4-BE49-F238E27FC236}">
                <a16:creationId xmlns:a16="http://schemas.microsoft.com/office/drawing/2014/main" id="{2AC3DC8B-843C-7160-3373-F472C8D2001B}"/>
              </a:ext>
            </a:extLst>
          </p:cNvPr>
          <p:cNvSpPr/>
          <p:nvPr/>
        </p:nvSpPr>
        <p:spPr>
          <a:xfrm>
            <a:off x="3270169" y="-16328"/>
            <a:ext cx="5106734" cy="3332097"/>
          </a:xfrm>
          <a:custGeom>
            <a:avLst/>
            <a:gdLst>
              <a:gd name="connsiteX0" fmla="*/ 0 w 5486400"/>
              <a:gd name="connsiteY0" fmla="*/ 0 h 2831690"/>
              <a:gd name="connsiteX1" fmla="*/ 2743200 w 5486400"/>
              <a:gd name="connsiteY1" fmla="*/ 2831690 h 2831690"/>
              <a:gd name="connsiteX2" fmla="*/ 5486400 w 5486400"/>
              <a:gd name="connsiteY2" fmla="*/ 2831690 h 2831690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34001 w 5405275"/>
              <a:gd name="connsiteY1" fmla="*/ 3336839 h 3336839"/>
              <a:gd name="connsiteX2" fmla="*/ 5405275 w 5405275"/>
              <a:gd name="connsiteY2" fmla="*/ 2731607 h 3336839"/>
              <a:gd name="connsiteX0" fmla="*/ 0 w 5531005"/>
              <a:gd name="connsiteY0" fmla="*/ 0 h 3336839"/>
              <a:gd name="connsiteX1" fmla="*/ 2734001 w 5531005"/>
              <a:gd name="connsiteY1" fmla="*/ 3336839 h 3336839"/>
              <a:gd name="connsiteX2" fmla="*/ 5531005 w 5531005"/>
              <a:gd name="connsiteY2" fmla="*/ 3314537 h 3336839"/>
              <a:gd name="connsiteX0" fmla="*/ 0 w 5542435"/>
              <a:gd name="connsiteY0" fmla="*/ 0 h 3337397"/>
              <a:gd name="connsiteX1" fmla="*/ 2734001 w 5542435"/>
              <a:gd name="connsiteY1" fmla="*/ 3336839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656510 w 5542435"/>
              <a:gd name="connsiteY1" fmla="*/ 3321340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579019 w 5542435"/>
              <a:gd name="connsiteY1" fmla="*/ 3321340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08110 w 5542435"/>
              <a:gd name="connsiteY1" fmla="*/ 3321340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29625 w 5542435"/>
              <a:gd name="connsiteY1" fmla="*/ 3332097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18867 w 5542435"/>
              <a:gd name="connsiteY1" fmla="*/ 3332097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18867 w 5542435"/>
              <a:gd name="connsiteY1" fmla="*/ 3332097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18867 w 5542435"/>
              <a:gd name="connsiteY1" fmla="*/ 3332097 h 3337397"/>
              <a:gd name="connsiteX2" fmla="*/ 5542435 w 5542435"/>
              <a:gd name="connsiteY2" fmla="*/ 3337397 h 3337397"/>
              <a:gd name="connsiteX0" fmla="*/ 0 w 5542435"/>
              <a:gd name="connsiteY0" fmla="*/ 0 h 3337397"/>
              <a:gd name="connsiteX1" fmla="*/ 2718867 w 5542435"/>
              <a:gd name="connsiteY1" fmla="*/ 3332097 h 3337397"/>
              <a:gd name="connsiteX2" fmla="*/ 5542435 w 5542435"/>
              <a:gd name="connsiteY2" fmla="*/ 3337397 h 3337397"/>
              <a:gd name="connsiteX0" fmla="*/ 0 w 5155160"/>
              <a:gd name="connsiteY0" fmla="*/ 0 h 3348155"/>
              <a:gd name="connsiteX1" fmla="*/ 2718867 w 5155160"/>
              <a:gd name="connsiteY1" fmla="*/ 3332097 h 3348155"/>
              <a:gd name="connsiteX2" fmla="*/ 5155160 w 5155160"/>
              <a:gd name="connsiteY2" fmla="*/ 3348155 h 3348155"/>
              <a:gd name="connsiteX0" fmla="*/ 0 w 5133645"/>
              <a:gd name="connsiteY0" fmla="*/ 0 h 3332097"/>
              <a:gd name="connsiteX1" fmla="*/ 2718867 w 5133645"/>
              <a:gd name="connsiteY1" fmla="*/ 3332097 h 3332097"/>
              <a:gd name="connsiteX2" fmla="*/ 5133645 w 5133645"/>
              <a:gd name="connsiteY2" fmla="*/ 3326639 h 333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3645" h="3332097">
                <a:moveTo>
                  <a:pt x="0" y="0"/>
                </a:moveTo>
                <a:cubicBezTo>
                  <a:pt x="1405490" y="882964"/>
                  <a:pt x="2182073" y="1971959"/>
                  <a:pt x="2718867" y="3332097"/>
                </a:cubicBezTo>
                <a:lnTo>
                  <a:pt x="5133645" y="3326639"/>
                </a:lnTo>
              </a:path>
            </a:pathLst>
          </a:custGeom>
          <a:noFill/>
          <a:ln w="19050">
            <a:solidFill>
              <a:srgbClr val="CC0066"/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C0066"/>
              </a:solidFill>
            </a:endParaRPr>
          </a:p>
        </p:txBody>
      </p:sp>
      <p:sp>
        <p:nvSpPr>
          <p:cNvPr id="28" name="Freeform: Shape 32">
            <a:extLst>
              <a:ext uri="{FF2B5EF4-FFF2-40B4-BE49-F238E27FC236}">
                <a16:creationId xmlns:a16="http://schemas.microsoft.com/office/drawing/2014/main" id="{A1F910ED-850D-AEEC-86ED-69ABFBFB93D4}"/>
              </a:ext>
            </a:extLst>
          </p:cNvPr>
          <p:cNvSpPr/>
          <p:nvPr/>
        </p:nvSpPr>
        <p:spPr>
          <a:xfrm>
            <a:off x="2756057" y="-34623"/>
            <a:ext cx="6498263" cy="5746623"/>
          </a:xfrm>
          <a:custGeom>
            <a:avLst/>
            <a:gdLst>
              <a:gd name="connsiteX0" fmla="*/ 0 w 5486400"/>
              <a:gd name="connsiteY0" fmla="*/ 0 h 2831690"/>
              <a:gd name="connsiteX1" fmla="*/ 2743200 w 5486400"/>
              <a:gd name="connsiteY1" fmla="*/ 2831690 h 2831690"/>
              <a:gd name="connsiteX2" fmla="*/ 5486400 w 5486400"/>
              <a:gd name="connsiteY2" fmla="*/ 2831690 h 2831690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34001 w 5405275"/>
              <a:gd name="connsiteY1" fmla="*/ 3336839 h 3336839"/>
              <a:gd name="connsiteX2" fmla="*/ 5405275 w 5405275"/>
              <a:gd name="connsiteY2" fmla="*/ 2731607 h 3336839"/>
              <a:gd name="connsiteX0" fmla="*/ 0 w 5531005"/>
              <a:gd name="connsiteY0" fmla="*/ 0 h 3336839"/>
              <a:gd name="connsiteX1" fmla="*/ 2734001 w 5531005"/>
              <a:gd name="connsiteY1" fmla="*/ 3336839 h 3336839"/>
              <a:gd name="connsiteX2" fmla="*/ 5531005 w 5531005"/>
              <a:gd name="connsiteY2" fmla="*/ 3314537 h 3336839"/>
              <a:gd name="connsiteX0" fmla="*/ 0 w 5542435"/>
              <a:gd name="connsiteY0" fmla="*/ 0 h 3337397"/>
              <a:gd name="connsiteX1" fmla="*/ 2734001 w 5542435"/>
              <a:gd name="connsiteY1" fmla="*/ 3336839 h 3337397"/>
              <a:gd name="connsiteX2" fmla="*/ 5542435 w 5542435"/>
              <a:gd name="connsiteY2" fmla="*/ 3337397 h 3337397"/>
              <a:gd name="connsiteX0" fmla="*/ 0 w 6038381"/>
              <a:gd name="connsiteY0" fmla="*/ 0 h 5197194"/>
              <a:gd name="connsiteX1" fmla="*/ 3229947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229947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012971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012971 w 6038381"/>
              <a:gd name="connsiteY1" fmla="*/ 5196636 h 5197194"/>
              <a:gd name="connsiteX2" fmla="*/ 6038381 w 6038381"/>
              <a:gd name="connsiteY2" fmla="*/ 5197194 h 5197194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5917606"/>
              <a:gd name="connsiteY0" fmla="*/ 0 h 5041653"/>
              <a:gd name="connsiteX1" fmla="*/ 3043967 w 5917606"/>
              <a:gd name="connsiteY1" fmla="*/ 5041653 h 5041653"/>
              <a:gd name="connsiteX2" fmla="*/ 5917606 w 5917606"/>
              <a:gd name="connsiteY2" fmla="*/ 5031454 h 5041653"/>
              <a:gd name="connsiteX0" fmla="*/ 0 w 5917606"/>
              <a:gd name="connsiteY0" fmla="*/ 0 h 5041653"/>
              <a:gd name="connsiteX1" fmla="*/ 3043967 w 5917606"/>
              <a:gd name="connsiteY1" fmla="*/ 5041653 h 5041653"/>
              <a:gd name="connsiteX2" fmla="*/ 5917606 w 5917606"/>
              <a:gd name="connsiteY2" fmla="*/ 5031454 h 5041653"/>
              <a:gd name="connsiteX0" fmla="*/ 0 w 5917606"/>
              <a:gd name="connsiteY0" fmla="*/ 0 h 5041653"/>
              <a:gd name="connsiteX1" fmla="*/ 3043967 w 5917606"/>
              <a:gd name="connsiteY1" fmla="*/ 5041653 h 5041653"/>
              <a:gd name="connsiteX2" fmla="*/ 5917606 w 5917606"/>
              <a:gd name="connsiteY2" fmla="*/ 5031454 h 504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7606" h="5041653">
                <a:moveTo>
                  <a:pt x="0" y="0"/>
                </a:moveTo>
                <a:cubicBezTo>
                  <a:pt x="1988349" y="1026811"/>
                  <a:pt x="3009136" y="3355306"/>
                  <a:pt x="3043967" y="5041653"/>
                </a:cubicBezTo>
                <a:lnTo>
                  <a:pt x="5917606" y="5031454"/>
                </a:lnTo>
              </a:path>
            </a:pathLst>
          </a:custGeom>
          <a:noFill/>
          <a:ln w="19050">
            <a:solidFill>
              <a:srgbClr val="CC0066"/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36">
            <a:extLst>
              <a:ext uri="{FF2B5EF4-FFF2-40B4-BE49-F238E27FC236}">
                <a16:creationId xmlns:a16="http://schemas.microsoft.com/office/drawing/2014/main" id="{A10DA5E2-2B2C-DD59-46F4-46D8B1AD1566}"/>
              </a:ext>
            </a:extLst>
          </p:cNvPr>
          <p:cNvSpPr/>
          <p:nvPr/>
        </p:nvSpPr>
        <p:spPr>
          <a:xfrm>
            <a:off x="1743582" y="-14686"/>
            <a:ext cx="6577161" cy="8570705"/>
          </a:xfrm>
          <a:custGeom>
            <a:avLst/>
            <a:gdLst>
              <a:gd name="connsiteX0" fmla="*/ 0 w 5486400"/>
              <a:gd name="connsiteY0" fmla="*/ 0 h 2831690"/>
              <a:gd name="connsiteX1" fmla="*/ 2743200 w 5486400"/>
              <a:gd name="connsiteY1" fmla="*/ 2831690 h 2831690"/>
              <a:gd name="connsiteX2" fmla="*/ 5486400 w 5486400"/>
              <a:gd name="connsiteY2" fmla="*/ 2831690 h 2831690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20177"/>
              <a:gd name="connsiteX1" fmla="*/ 2787805 w 5531005"/>
              <a:gd name="connsiteY1" fmla="*/ 2720177 h 2720177"/>
              <a:gd name="connsiteX2" fmla="*/ 5531005 w 5531005"/>
              <a:gd name="connsiteY2" fmla="*/ 2720177 h 2720177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531005"/>
              <a:gd name="connsiteY0" fmla="*/ 0 h 2742479"/>
              <a:gd name="connsiteX1" fmla="*/ 2653991 w 5531005"/>
              <a:gd name="connsiteY1" fmla="*/ 2742479 h 2742479"/>
              <a:gd name="connsiteX2" fmla="*/ 5531005 w 5531005"/>
              <a:gd name="connsiteY2" fmla="*/ 2720177 h 274247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2753909"/>
              <a:gd name="connsiteX1" fmla="*/ 2528261 w 5405275"/>
              <a:gd name="connsiteY1" fmla="*/ 2753909 h 2753909"/>
              <a:gd name="connsiteX2" fmla="*/ 5405275 w 5405275"/>
              <a:gd name="connsiteY2" fmla="*/ 2731607 h 275390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68291 w 5405275"/>
              <a:gd name="connsiteY1" fmla="*/ 3336839 h 3336839"/>
              <a:gd name="connsiteX2" fmla="*/ 5405275 w 5405275"/>
              <a:gd name="connsiteY2" fmla="*/ 2731607 h 3336839"/>
              <a:gd name="connsiteX0" fmla="*/ 0 w 5405275"/>
              <a:gd name="connsiteY0" fmla="*/ 0 h 3336839"/>
              <a:gd name="connsiteX1" fmla="*/ 2734001 w 5405275"/>
              <a:gd name="connsiteY1" fmla="*/ 3336839 h 3336839"/>
              <a:gd name="connsiteX2" fmla="*/ 5405275 w 5405275"/>
              <a:gd name="connsiteY2" fmla="*/ 2731607 h 3336839"/>
              <a:gd name="connsiteX0" fmla="*/ 0 w 5531005"/>
              <a:gd name="connsiteY0" fmla="*/ 0 h 3336839"/>
              <a:gd name="connsiteX1" fmla="*/ 2734001 w 5531005"/>
              <a:gd name="connsiteY1" fmla="*/ 3336839 h 3336839"/>
              <a:gd name="connsiteX2" fmla="*/ 5531005 w 5531005"/>
              <a:gd name="connsiteY2" fmla="*/ 3314537 h 3336839"/>
              <a:gd name="connsiteX0" fmla="*/ 0 w 5542435"/>
              <a:gd name="connsiteY0" fmla="*/ 0 h 3337397"/>
              <a:gd name="connsiteX1" fmla="*/ 2734001 w 5542435"/>
              <a:gd name="connsiteY1" fmla="*/ 3336839 h 3337397"/>
              <a:gd name="connsiteX2" fmla="*/ 5542435 w 5542435"/>
              <a:gd name="connsiteY2" fmla="*/ 3337397 h 3337397"/>
              <a:gd name="connsiteX0" fmla="*/ 0 w 6038381"/>
              <a:gd name="connsiteY0" fmla="*/ 0 h 5197194"/>
              <a:gd name="connsiteX1" fmla="*/ 3229947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229947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012971 w 6038381"/>
              <a:gd name="connsiteY1" fmla="*/ 5196636 h 5197194"/>
              <a:gd name="connsiteX2" fmla="*/ 6038381 w 6038381"/>
              <a:gd name="connsiteY2" fmla="*/ 5197194 h 5197194"/>
              <a:gd name="connsiteX0" fmla="*/ 0 w 6038381"/>
              <a:gd name="connsiteY0" fmla="*/ 0 h 5197194"/>
              <a:gd name="connsiteX1" fmla="*/ 3012971 w 6038381"/>
              <a:gd name="connsiteY1" fmla="*/ 5196636 h 5197194"/>
              <a:gd name="connsiteX2" fmla="*/ 6038381 w 6038381"/>
              <a:gd name="connsiteY2" fmla="*/ 5197194 h 5197194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069377"/>
              <a:gd name="connsiteY0" fmla="*/ 0 h 5042211"/>
              <a:gd name="connsiteX1" fmla="*/ 3043967 w 6069377"/>
              <a:gd name="connsiteY1" fmla="*/ 5041653 h 5042211"/>
              <a:gd name="connsiteX2" fmla="*/ 6069377 w 6069377"/>
              <a:gd name="connsiteY2" fmla="*/ 5042211 h 5042211"/>
              <a:gd name="connsiteX0" fmla="*/ 0 w 6157481"/>
              <a:gd name="connsiteY0" fmla="*/ 0 h 5042211"/>
              <a:gd name="connsiteX1" fmla="*/ 3043967 w 6157481"/>
              <a:gd name="connsiteY1" fmla="*/ 5041653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91234 w 6157481"/>
              <a:gd name="connsiteY1" fmla="*/ 5022470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91234 w 6157481"/>
              <a:gd name="connsiteY1" fmla="*/ 5022470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91234 w 6157481"/>
              <a:gd name="connsiteY1" fmla="*/ 5022470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91234 w 6157481"/>
              <a:gd name="connsiteY1" fmla="*/ 5022470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91234 w 6157481"/>
              <a:gd name="connsiteY1" fmla="*/ 5022470 h 5042211"/>
              <a:gd name="connsiteX2" fmla="*/ 6157481 w 6157481"/>
              <a:gd name="connsiteY2" fmla="*/ 5042211 h 5042211"/>
              <a:gd name="connsiteX0" fmla="*/ 0 w 6157481"/>
              <a:gd name="connsiteY0" fmla="*/ 0 h 5042211"/>
              <a:gd name="connsiteX1" fmla="*/ 2473403 w 6157481"/>
              <a:gd name="connsiteY1" fmla="*/ 5016076 h 5042211"/>
              <a:gd name="connsiteX2" fmla="*/ 6157481 w 6157481"/>
              <a:gd name="connsiteY2" fmla="*/ 5042211 h 5042211"/>
              <a:gd name="connsiteX0" fmla="*/ 0 w 5453192"/>
              <a:gd name="connsiteY0" fmla="*/ 0 h 5035817"/>
              <a:gd name="connsiteX1" fmla="*/ 2473403 w 5453192"/>
              <a:gd name="connsiteY1" fmla="*/ 5016076 h 5035817"/>
              <a:gd name="connsiteX2" fmla="*/ 5453192 w 5453192"/>
              <a:gd name="connsiteY2" fmla="*/ 5035817 h 5035817"/>
              <a:gd name="connsiteX0" fmla="*/ 0 w 5453192"/>
              <a:gd name="connsiteY0" fmla="*/ 0 h 5035817"/>
              <a:gd name="connsiteX1" fmla="*/ 2447860 w 5453192"/>
              <a:gd name="connsiteY1" fmla="*/ 5016076 h 5035817"/>
              <a:gd name="connsiteX2" fmla="*/ 5453192 w 5453192"/>
              <a:gd name="connsiteY2" fmla="*/ 5035817 h 5035817"/>
              <a:gd name="connsiteX0" fmla="*/ 0 w 5453192"/>
              <a:gd name="connsiteY0" fmla="*/ 0 h 5035817"/>
              <a:gd name="connsiteX1" fmla="*/ 2447860 w 5453192"/>
              <a:gd name="connsiteY1" fmla="*/ 5016076 h 5035817"/>
              <a:gd name="connsiteX2" fmla="*/ 5453192 w 5453192"/>
              <a:gd name="connsiteY2" fmla="*/ 5035817 h 5035817"/>
              <a:gd name="connsiteX0" fmla="*/ 0 w 5453192"/>
              <a:gd name="connsiteY0" fmla="*/ 0 h 5035817"/>
              <a:gd name="connsiteX1" fmla="*/ 2447860 w 5453192"/>
              <a:gd name="connsiteY1" fmla="*/ 5016076 h 5035817"/>
              <a:gd name="connsiteX2" fmla="*/ 5453192 w 5453192"/>
              <a:gd name="connsiteY2" fmla="*/ 5035817 h 503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3192" h="5035817">
                <a:moveTo>
                  <a:pt x="0" y="0"/>
                </a:moveTo>
                <a:cubicBezTo>
                  <a:pt x="3150690" y="849061"/>
                  <a:pt x="4013837" y="3301636"/>
                  <a:pt x="2447860" y="5016076"/>
                </a:cubicBezTo>
                <a:lnTo>
                  <a:pt x="5453192" y="5035817"/>
                </a:lnTo>
              </a:path>
            </a:pathLst>
          </a:custGeom>
          <a:noFill/>
          <a:ln w="19050">
            <a:solidFill>
              <a:srgbClr val="CC0066"/>
            </a:solidFill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C0066"/>
              </a:solidFill>
            </a:endParaRP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EBC4C17B-762E-1350-865D-9260CBA25B0F}"/>
              </a:ext>
            </a:extLst>
          </p:cNvPr>
          <p:cNvSpPr/>
          <p:nvPr/>
        </p:nvSpPr>
        <p:spPr>
          <a:xfrm>
            <a:off x="16992600" y="94522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2169F0C-6B54-875A-DBB3-709988B8A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3" y="4066559"/>
            <a:ext cx="4193018" cy="189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6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66684" y="89188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1488418" y="2369552"/>
            <a:ext cx="5178266" cy="6284277"/>
            <a:chOff x="0" y="0"/>
            <a:chExt cx="1363823" cy="14611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3823" cy="1461174"/>
            </a:xfrm>
            <a:custGeom>
              <a:avLst/>
              <a:gdLst/>
              <a:ahLst/>
              <a:cxnLst/>
              <a:rect l="l" t="t" r="r" b="b"/>
              <a:pathLst>
                <a:path w="1363823" h="1461174">
                  <a:moveTo>
                    <a:pt x="88210" y="0"/>
                  </a:moveTo>
                  <a:lnTo>
                    <a:pt x="1275614" y="0"/>
                  </a:lnTo>
                  <a:cubicBezTo>
                    <a:pt x="1299008" y="0"/>
                    <a:pt x="1321445" y="9293"/>
                    <a:pt x="1337987" y="25836"/>
                  </a:cubicBezTo>
                  <a:cubicBezTo>
                    <a:pt x="1354530" y="42379"/>
                    <a:pt x="1363823" y="64815"/>
                    <a:pt x="1363823" y="88210"/>
                  </a:cubicBezTo>
                  <a:lnTo>
                    <a:pt x="1363823" y="1372964"/>
                  </a:lnTo>
                  <a:cubicBezTo>
                    <a:pt x="1363823" y="1396359"/>
                    <a:pt x="1354530" y="1418795"/>
                    <a:pt x="1337987" y="1435338"/>
                  </a:cubicBezTo>
                  <a:cubicBezTo>
                    <a:pt x="1321445" y="1451880"/>
                    <a:pt x="1299008" y="1461174"/>
                    <a:pt x="1275614" y="1461174"/>
                  </a:cubicBezTo>
                  <a:lnTo>
                    <a:pt x="88210" y="1461174"/>
                  </a:lnTo>
                  <a:cubicBezTo>
                    <a:pt x="64815" y="1461174"/>
                    <a:pt x="42379" y="1451880"/>
                    <a:pt x="25836" y="1435338"/>
                  </a:cubicBezTo>
                  <a:cubicBezTo>
                    <a:pt x="9293" y="1418795"/>
                    <a:pt x="0" y="1396359"/>
                    <a:pt x="0" y="1372964"/>
                  </a:cubicBezTo>
                  <a:lnTo>
                    <a:pt x="0" y="88210"/>
                  </a:lnTo>
                  <a:cubicBezTo>
                    <a:pt x="0" y="64815"/>
                    <a:pt x="9293" y="42379"/>
                    <a:pt x="25836" y="25836"/>
                  </a:cubicBezTo>
                  <a:cubicBezTo>
                    <a:pt x="42379" y="9293"/>
                    <a:pt x="64815" y="0"/>
                    <a:pt x="88210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63823" cy="1499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88696" y="2107361"/>
            <a:ext cx="792181" cy="7921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145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320" tIns="40320" rIns="40320" bIns="4032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8200" y="501553"/>
            <a:ext cx="16230600" cy="519683"/>
            <a:chOff x="0" y="0"/>
            <a:chExt cx="21640800" cy="692911"/>
          </a:xfrm>
        </p:grpSpPr>
        <p:sp>
          <p:nvSpPr>
            <p:cNvPr id="10" name="Freeform 10"/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19200" y="1984582"/>
            <a:ext cx="9281124" cy="129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6"/>
              </a:lnSpc>
            </a:pPr>
            <a:r>
              <a:rPr lang="en-US" sz="5400" b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Problema do negócio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" y="3815855"/>
            <a:ext cx="9281124" cy="452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2800">
                <a:solidFill>
                  <a:schemeClr val="bg1"/>
                </a:solidFill>
              </a:rPr>
              <a:t>O Head de Dados pediu para que o grupo entrasse na base de dados do PNAD-COVID-19 do IBGE e organizasse esta base para análise, utilizando Banco de Dados em Nuvem e trazendo as seguintes características:</a:t>
            </a:r>
          </a:p>
          <a:p>
            <a:pPr algn="just"/>
            <a:endParaRPr lang="pt-BR" sz="2000">
              <a:solidFill>
                <a:schemeClr val="bg1"/>
              </a:solidFill>
              <a:latin typeface="Eastman Grotesque" panose="020B0604020202020204" charset="0"/>
              <a:ea typeface="Eastman Grotesque"/>
              <a:cs typeface="Eastman Grotesque"/>
              <a:sym typeface="Eastman Grotesque"/>
            </a:endParaRPr>
          </a:p>
          <a:p>
            <a:pPr algn="just">
              <a:lnSpc>
                <a:spcPts val="2800"/>
              </a:lnSpc>
            </a:pPr>
            <a:r>
              <a:rPr lang="pt-BR" sz="2000">
                <a:solidFill>
                  <a:schemeClr val="bg1"/>
                </a:solidFill>
              </a:rPr>
              <a:t>Requisitos: 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1"/>
                </a:solidFill>
              </a:rPr>
              <a:t>Utilização de no máximo 20 questionamentos realizados na pesquisa;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1"/>
                </a:solidFill>
              </a:rPr>
              <a:t>Utilizar 3 meses para construção da solução;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1"/>
                </a:solidFill>
              </a:rPr>
              <a:t>Caracterização dos sintomas clínicos da população;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1"/>
                </a:solidFill>
              </a:rPr>
              <a:t>Comportamento da população na época da COVID-19;</a:t>
            </a:r>
          </a:p>
          <a:p>
            <a:pPr marL="342900" indent="-342900" algn="just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bg1"/>
                </a:solidFill>
              </a:rPr>
              <a:t>Características econômicas da Sociedade; </a:t>
            </a:r>
          </a:p>
          <a:p>
            <a:pPr algn="just">
              <a:lnSpc>
                <a:spcPts val="2800"/>
              </a:lnSpc>
            </a:pPr>
            <a:r>
              <a:rPr lang="pt-BR" sz="2000">
                <a:solidFill>
                  <a:schemeClr val="bg1"/>
                </a:solidFill>
                <a:sym typeface="Eastman Grotesque"/>
              </a:rPr>
              <a:t>Dados: </a:t>
            </a:r>
            <a:r>
              <a:rPr lang="pt-BR" sz="2000">
                <a:solidFill>
                  <a:schemeClr val="bg1"/>
                </a:solidFill>
              </a:rPr>
              <a:t>(https://covid19.ibge.gov.br/</a:t>
            </a:r>
            <a:r>
              <a:rPr lang="pt-BR" sz="2000" err="1">
                <a:solidFill>
                  <a:schemeClr val="bg1"/>
                </a:solidFill>
              </a:rPr>
              <a:t>pnad</a:t>
            </a:r>
            <a:r>
              <a:rPr lang="pt-BR" sz="2000">
                <a:solidFill>
                  <a:schemeClr val="bg1"/>
                </a:solidFill>
              </a:rPr>
              <a:t>-covid/) </a:t>
            </a:r>
            <a:endParaRPr lang="en-US" sz="2000">
              <a:solidFill>
                <a:schemeClr val="bg1"/>
              </a:solidFill>
              <a:latin typeface="Eastman Grotesque" panose="020B0604020202020204" charset="0"/>
              <a:ea typeface="Eastman Grotesque"/>
              <a:cs typeface="Eastman Grotesque"/>
              <a:sym typeface="Eastman Grotesqu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66407" y="4679672"/>
            <a:ext cx="4022289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pt-BR" sz="2400">
                <a:latin typeface="Calibri"/>
                <a:ea typeface="Calibri"/>
                <a:cs typeface="Calibri"/>
              </a:rPr>
              <a:t>Seu objetivo será trazer uma breve análise dessas informações, como foi a organização do banco, as perguntas selecionadas para a resposta do problema e quais seriam as principais ações que o hospital deverá tomar em caso de um novo surto de COVID-19</a:t>
            </a:r>
            <a:r>
              <a:rPr lang="pt-BR" sz="2400">
                <a:latin typeface="Eastman Grotesque"/>
              </a:rPr>
              <a:t>. </a:t>
            </a:r>
            <a:endParaRPr lang="en-US" sz="2400">
              <a:solidFill>
                <a:srgbClr val="FFFFFF"/>
              </a:solidFill>
              <a:latin typeface="Eastman Grotesque"/>
              <a:ea typeface="Eastman Grotesque"/>
              <a:cs typeface="Eastman Grotesque"/>
              <a:sym typeface="Eastman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066407" y="2956692"/>
            <a:ext cx="4479450" cy="156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3"/>
              </a:lnSpc>
            </a:pPr>
            <a:r>
              <a:rPr lang="en-US" sz="5599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Sobre</a:t>
            </a:r>
            <a:r>
              <a:rPr lang="en-US" sz="55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</a:t>
            </a:r>
          </a:p>
          <a:p>
            <a:pPr algn="l">
              <a:lnSpc>
                <a:spcPts val="6103"/>
              </a:lnSpc>
            </a:pPr>
            <a:r>
              <a:rPr lang="en-US" sz="5599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Desafio</a:t>
            </a:r>
            <a:endParaRPr lang="en-US" sz="5599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Espaço Reservado para Número de Slide 2">
            <a:extLst>
              <a:ext uri="{FF2B5EF4-FFF2-40B4-BE49-F238E27FC236}">
                <a16:creationId xmlns:a16="http://schemas.microsoft.com/office/drawing/2014/main" id="{5F483094-CFC0-BA0A-0FB5-5F5D794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78833" y="1101633"/>
            <a:ext cx="346746" cy="184667"/>
          </a:xfrm>
        </p:spPr>
        <p:txBody>
          <a:bodyPr/>
          <a:lstStyle/>
          <a:p>
            <a:fld id="{0D5187E7-9586-4671-89A0-1B2700A8A8C1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17" name="Espaço Reservado para Rodapé 5">
            <a:extLst>
              <a:ext uri="{FF2B5EF4-FFF2-40B4-BE49-F238E27FC236}">
                <a16:creationId xmlns:a16="http://schemas.microsoft.com/office/drawing/2014/main" id="{82B082AA-494D-C0BE-3925-3A8535AD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8696" y="1101633"/>
            <a:ext cx="2700000" cy="184667"/>
          </a:xfrm>
        </p:spPr>
        <p:txBody>
          <a:bodyPr/>
          <a:lstStyle/>
          <a:p>
            <a:r>
              <a:rPr lang="pt-BR"/>
              <a:t>Tech Challenger | Fase 02</a:t>
            </a: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714C83A-F902-2383-D85A-C1FDBE593802}"/>
              </a:ext>
            </a:extLst>
          </p:cNvPr>
          <p:cNvSpPr/>
          <p:nvPr/>
        </p:nvSpPr>
        <p:spPr>
          <a:xfrm>
            <a:off x="16992600" y="94522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7C2356D9-94E8-4D14-B943-0C443CB0EC5A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61DCA0-B82B-485A-88E7-7A6F7ADBD292}"/>
              </a:ext>
            </a:extLst>
          </p:cNvPr>
          <p:cNvSpPr/>
          <p:nvPr/>
        </p:nvSpPr>
        <p:spPr>
          <a:xfrm>
            <a:off x="6207387" y="718457"/>
            <a:ext cx="10806291" cy="1981560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E9B25-BA90-43E5-8120-E69B87831683}"/>
              </a:ext>
            </a:extLst>
          </p:cNvPr>
          <p:cNvSpPr txBox="1"/>
          <p:nvPr/>
        </p:nvSpPr>
        <p:spPr>
          <a:xfrm>
            <a:off x="635882" y="3399461"/>
            <a:ext cx="3492168" cy="2308324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Este pipeline transforma os microdados brutos da </a:t>
            </a:r>
            <a:r>
              <a:rPr lang="pt-BR" b="1">
                <a:solidFill>
                  <a:schemeClr val="bg1"/>
                </a:solidFill>
              </a:rPr>
              <a:t>PNAD COVID-19 (IBGE)</a:t>
            </a:r>
            <a:r>
              <a:rPr lang="pt-BR">
                <a:solidFill>
                  <a:schemeClr val="bg1"/>
                </a:solidFill>
              </a:rPr>
              <a:t> em bases analíticas limpas, com variáveis renomeadas semanticamente e categorias traduzidas de código numérico para texto legível (ex.: 1 → "Homem", 2 → "Mulher").</a:t>
            </a:r>
            <a:r>
              <a:rPr lang="en-US" altLang="ko-KR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17C537-6DC8-4068-9CB2-51D167870CF2}"/>
              </a:ext>
            </a:extLst>
          </p:cNvPr>
          <p:cNvSpPr txBox="1"/>
          <p:nvPr/>
        </p:nvSpPr>
        <p:spPr>
          <a:xfrm>
            <a:off x="557712" y="590248"/>
            <a:ext cx="4601127" cy="2492990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en-US" altLang="ko-KR" sz="5400">
                <a:solidFill>
                  <a:srgbClr val="7A7A7A"/>
                </a:solidFill>
                <a:latin typeface="League Spartan"/>
              </a:rPr>
              <a:t>Pipeline de </a:t>
            </a:r>
            <a:r>
              <a:rPr lang="en-US" altLang="ko-KR" sz="5400" err="1">
                <a:solidFill>
                  <a:srgbClr val="7A7A7A"/>
                </a:solidFill>
                <a:latin typeface="League Spartan"/>
              </a:rPr>
              <a:t>construção</a:t>
            </a:r>
            <a:r>
              <a:rPr lang="en-US" altLang="ko-KR" sz="5400">
                <a:solidFill>
                  <a:srgbClr val="7A7A7A"/>
                </a:solidFill>
                <a:latin typeface="League Spartan"/>
              </a:rPr>
              <a:t> do </a:t>
            </a:r>
            <a:r>
              <a:rPr lang="en-US" altLang="ko-KR" sz="5400" err="1">
                <a:solidFill>
                  <a:srgbClr val="7A7A7A"/>
                </a:solidFill>
                <a:latin typeface="League Spartan"/>
              </a:rPr>
              <a:t>modelo</a:t>
            </a:r>
            <a:endParaRPr lang="ko-KR" altLang="en-US" sz="54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0AF91-C50F-4339-BAB3-8BA56FEB7F21}"/>
              </a:ext>
            </a:extLst>
          </p:cNvPr>
          <p:cNvSpPr/>
          <p:nvPr/>
        </p:nvSpPr>
        <p:spPr>
          <a:xfrm>
            <a:off x="6207387" y="3011312"/>
            <a:ext cx="10806291" cy="1981560"/>
          </a:xfrm>
          <a:prstGeom prst="rect">
            <a:avLst/>
          </a:prstGeom>
          <a:noFill/>
          <a:ln w="25400">
            <a:solidFill>
              <a:schemeClr val="accent2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40832E8-3C61-4DF4-80EF-EB85286F795C}"/>
              </a:ext>
            </a:extLst>
          </p:cNvPr>
          <p:cNvSpPr/>
          <p:nvPr/>
        </p:nvSpPr>
        <p:spPr>
          <a:xfrm>
            <a:off x="6207387" y="5304167"/>
            <a:ext cx="10806291" cy="1981560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78A99D-33F9-472B-A1B7-8926C68CA86E}"/>
              </a:ext>
            </a:extLst>
          </p:cNvPr>
          <p:cNvSpPr/>
          <p:nvPr/>
        </p:nvSpPr>
        <p:spPr>
          <a:xfrm>
            <a:off x="6207387" y="7597022"/>
            <a:ext cx="10806291" cy="1981560"/>
          </a:xfrm>
          <a:prstGeom prst="rect">
            <a:avLst/>
          </a:prstGeom>
          <a:noFill/>
          <a:ln w="25400">
            <a:solidFill>
              <a:schemeClr val="accent4"/>
            </a:solidFill>
          </a:ln>
          <a:effectLst>
            <a:outerShdw blurRad="50800" dist="50800" dir="5400000" algn="ctr" rotWithShape="0">
              <a:schemeClr val="tx1">
                <a:lumMod val="50000"/>
                <a:lumOff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67" name="그룹 6">
            <a:extLst>
              <a:ext uri="{FF2B5EF4-FFF2-40B4-BE49-F238E27FC236}">
                <a16:creationId xmlns:a16="http://schemas.microsoft.com/office/drawing/2014/main" id="{C27E0BB9-407C-4DB0-BDE8-94C4AB78B580}"/>
              </a:ext>
            </a:extLst>
          </p:cNvPr>
          <p:cNvGrpSpPr/>
          <p:nvPr/>
        </p:nvGrpSpPr>
        <p:grpSpPr>
          <a:xfrm>
            <a:off x="8602778" y="968458"/>
            <a:ext cx="8237421" cy="1461092"/>
            <a:chOff x="5735184" y="674821"/>
            <a:chExt cx="5491614" cy="97406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363BD94-9E50-4549-973A-2530BBD686EA}"/>
                </a:ext>
              </a:extLst>
            </p:cNvPr>
            <p:cNvSpPr txBox="1"/>
            <p:nvPr/>
          </p:nvSpPr>
          <p:spPr>
            <a:xfrm>
              <a:off x="5735185" y="674821"/>
              <a:ext cx="5266798" cy="477054"/>
            </a:xfrm>
            <a:prstGeom prst="rect">
              <a:avLst/>
            </a:prstGeom>
            <a:noFill/>
          </p:spPr>
          <p:txBody>
            <a:bodyPr wrap="square" lIns="135000" rIns="162000" rtlCol="0">
              <a:spAutoFit/>
            </a:bodyPr>
            <a:lstStyle/>
            <a:p>
              <a:r>
                <a:rPr lang="en-US" altLang="ko-KR" sz="4050" b="1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Visão</a:t>
              </a:r>
              <a:r>
                <a:rPr lang="en-US" altLang="ko-KR" sz="405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Geral</a:t>
              </a:r>
              <a:endParaRPr lang="ko-KR" altLang="en-US" sz="405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7DFCD36-2B3A-4739-B087-04EAF4C99187}"/>
                </a:ext>
              </a:extLst>
            </p:cNvPr>
            <p:cNvSpPr txBox="1"/>
            <p:nvPr/>
          </p:nvSpPr>
          <p:spPr>
            <a:xfrm>
              <a:off x="5735184" y="1033329"/>
              <a:ext cx="5491614" cy="615553"/>
            </a:xfrm>
            <a:prstGeom prst="rect">
              <a:avLst/>
            </a:prstGeom>
            <a:noFill/>
          </p:spPr>
          <p:txBody>
            <a:bodyPr wrap="square" lIns="108000" rIns="162000" rtlCol="0">
              <a:spAutoFit/>
            </a:bodyPr>
            <a:lstStyle/>
            <a:p>
              <a:r>
                <a:rPr lang="pt-BR"/>
                <a:t>A pesquisa objetiva estimar o número de pessoas com sintomas referidos associados à síndrome gripal e monitorar os impactos da pandemia da COVID-19 no mercado de trabalho brasileiro</a:t>
              </a:r>
              <a:endParaRPr lang="en-US" altLang="ko-KR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B8555C1A-41EA-4A4F-9940-B452F8E8BA0F}"/>
              </a:ext>
            </a:extLst>
          </p:cNvPr>
          <p:cNvSpPr/>
          <p:nvPr/>
        </p:nvSpPr>
        <p:spPr>
          <a:xfrm>
            <a:off x="6873891" y="1120725"/>
            <a:ext cx="1188132" cy="118813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1" name="그룹 5">
            <a:extLst>
              <a:ext uri="{FF2B5EF4-FFF2-40B4-BE49-F238E27FC236}">
                <a16:creationId xmlns:a16="http://schemas.microsoft.com/office/drawing/2014/main" id="{698C082D-755B-4CE8-9CFE-D0328EEBB70F}"/>
              </a:ext>
            </a:extLst>
          </p:cNvPr>
          <p:cNvGrpSpPr/>
          <p:nvPr/>
        </p:nvGrpSpPr>
        <p:grpSpPr>
          <a:xfrm>
            <a:off x="8602780" y="3261783"/>
            <a:ext cx="7900197" cy="1184094"/>
            <a:chOff x="5735185" y="2193979"/>
            <a:chExt cx="5266798" cy="789396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7FF8B93-1F78-4CB1-A7FD-9567BF334D6A}"/>
                </a:ext>
              </a:extLst>
            </p:cNvPr>
            <p:cNvSpPr txBox="1"/>
            <p:nvPr/>
          </p:nvSpPr>
          <p:spPr>
            <a:xfrm>
              <a:off x="5735185" y="2193979"/>
              <a:ext cx="5266798" cy="477054"/>
            </a:xfrm>
            <a:prstGeom prst="rect">
              <a:avLst/>
            </a:prstGeom>
            <a:noFill/>
          </p:spPr>
          <p:txBody>
            <a:bodyPr wrap="square" lIns="135000" rIns="162000" rtlCol="0">
              <a:spAutoFit/>
            </a:bodyPr>
            <a:lstStyle/>
            <a:p>
              <a:r>
                <a:rPr lang="en-US" altLang="ko-KR" sz="4050" b="1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Período</a:t>
              </a:r>
              <a:r>
                <a:rPr lang="en-US" altLang="ko-KR" sz="405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n-US" altLang="ko-KR" sz="4050" b="1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Cobertura</a:t>
              </a:r>
              <a:endParaRPr lang="ko-KR" altLang="en-US" sz="405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640EEF-D974-4B7D-9C2F-9CE6976B1916}"/>
                </a:ext>
              </a:extLst>
            </p:cNvPr>
            <p:cNvSpPr txBox="1"/>
            <p:nvPr/>
          </p:nvSpPr>
          <p:spPr>
            <a:xfrm>
              <a:off x="5735185" y="2552488"/>
              <a:ext cx="5266793" cy="430887"/>
            </a:xfrm>
            <a:prstGeom prst="rect">
              <a:avLst/>
            </a:prstGeom>
            <a:noFill/>
          </p:spPr>
          <p:txBody>
            <a:bodyPr wrap="square" lIns="108000" rIns="162000" rtlCol="0">
              <a:spAutoFit/>
            </a:bodyPr>
            <a:lstStyle/>
            <a:p>
              <a:r>
                <a:rPr lang="pt-BR" b="1"/>
                <a:t>Amostra:</a:t>
              </a:r>
              <a:r>
                <a:rPr lang="pt-BR"/>
                <a:t> 193 mil domicílios por mês, painel fixo (as mesmas famílias são entrevistadas todos os meses, permitindo análise longitudinal)</a:t>
              </a:r>
              <a:endParaRPr lang="en-US" altLang="ko-KR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5E05F719-AF7E-4BD0-9892-AB976FE4A2E3}"/>
              </a:ext>
            </a:extLst>
          </p:cNvPr>
          <p:cNvSpPr/>
          <p:nvPr/>
        </p:nvSpPr>
        <p:spPr>
          <a:xfrm>
            <a:off x="6873891" y="3399459"/>
            <a:ext cx="1188132" cy="118813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5" name="그룹 4">
            <a:extLst>
              <a:ext uri="{FF2B5EF4-FFF2-40B4-BE49-F238E27FC236}">
                <a16:creationId xmlns:a16="http://schemas.microsoft.com/office/drawing/2014/main" id="{7EDBDAE2-B8FE-4003-A83C-FB71EBFC8E3F}"/>
              </a:ext>
            </a:extLst>
          </p:cNvPr>
          <p:cNvGrpSpPr/>
          <p:nvPr/>
        </p:nvGrpSpPr>
        <p:grpSpPr>
          <a:xfrm>
            <a:off x="8602779" y="5555109"/>
            <a:ext cx="7900197" cy="1461093"/>
            <a:chOff x="5735185" y="3713135"/>
            <a:chExt cx="5266798" cy="97406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0E2732-9B9B-424E-86B0-B9301BE02F73}"/>
                </a:ext>
              </a:extLst>
            </p:cNvPr>
            <p:cNvSpPr txBox="1"/>
            <p:nvPr/>
          </p:nvSpPr>
          <p:spPr>
            <a:xfrm>
              <a:off x="5735185" y="3713135"/>
              <a:ext cx="5266798" cy="477054"/>
            </a:xfrm>
            <a:prstGeom prst="rect">
              <a:avLst/>
            </a:prstGeom>
            <a:noFill/>
          </p:spPr>
          <p:txBody>
            <a:bodyPr wrap="square" lIns="135000" rIns="162000" rtlCol="0">
              <a:spAutoFit/>
            </a:bodyPr>
            <a:lstStyle/>
            <a:p>
              <a:r>
                <a:rPr lang="en-US" altLang="ko-KR" sz="4050" b="1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Lógica</a:t>
              </a:r>
              <a:r>
                <a:rPr lang="en-US" altLang="ko-KR" sz="405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do </a:t>
              </a:r>
              <a:r>
                <a:rPr lang="en-US" altLang="ko-KR" sz="4050" b="1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questionário</a:t>
              </a:r>
              <a:endParaRPr lang="ko-KR" altLang="en-US" sz="405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178DD3-F449-4D88-8411-815C8BE4732B}"/>
                </a:ext>
              </a:extLst>
            </p:cNvPr>
            <p:cNvSpPr txBox="1"/>
            <p:nvPr/>
          </p:nvSpPr>
          <p:spPr>
            <a:xfrm>
              <a:off x="5735185" y="4071644"/>
              <a:ext cx="5266793" cy="615553"/>
            </a:xfrm>
            <a:prstGeom prst="rect">
              <a:avLst/>
            </a:prstGeom>
            <a:noFill/>
          </p:spPr>
          <p:txBody>
            <a:bodyPr wrap="square" lIns="108000" rIns="162000" rtlCol="0">
              <a:spAutoFit/>
            </a:bodyPr>
            <a:lstStyle/>
            <a:p>
              <a:r>
                <a:rPr lang="pt-BR"/>
                <a:t>O questionário se divide em duas partes, sendo uma direcionada a questões de saúde, especificamente sobre sintomas associados à síndrome gripal e outra, a questões de trabalho.</a:t>
              </a:r>
              <a:endParaRPr lang="en-US" altLang="ko-KR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78" name="Oval 77">
            <a:extLst>
              <a:ext uri="{FF2B5EF4-FFF2-40B4-BE49-F238E27FC236}">
                <a16:creationId xmlns:a16="http://schemas.microsoft.com/office/drawing/2014/main" id="{8A278FE7-09E8-4845-92CE-65950B312CD7}"/>
              </a:ext>
            </a:extLst>
          </p:cNvPr>
          <p:cNvSpPr/>
          <p:nvPr/>
        </p:nvSpPr>
        <p:spPr>
          <a:xfrm>
            <a:off x="6873891" y="5678193"/>
            <a:ext cx="1188132" cy="118813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9" name="그룹 1">
            <a:extLst>
              <a:ext uri="{FF2B5EF4-FFF2-40B4-BE49-F238E27FC236}">
                <a16:creationId xmlns:a16="http://schemas.microsoft.com/office/drawing/2014/main" id="{87ACC7CA-D2A2-4895-97FA-25EC62A0630D}"/>
              </a:ext>
            </a:extLst>
          </p:cNvPr>
          <p:cNvGrpSpPr/>
          <p:nvPr/>
        </p:nvGrpSpPr>
        <p:grpSpPr>
          <a:xfrm>
            <a:off x="8602780" y="7848438"/>
            <a:ext cx="9077400" cy="1738092"/>
            <a:chOff x="5735185" y="5232291"/>
            <a:chExt cx="6051600" cy="115872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D3DE90-D238-4506-BE20-A8804EE2411D}"/>
                </a:ext>
              </a:extLst>
            </p:cNvPr>
            <p:cNvSpPr txBox="1"/>
            <p:nvPr/>
          </p:nvSpPr>
          <p:spPr>
            <a:xfrm>
              <a:off x="5735185" y="5232291"/>
              <a:ext cx="5266798" cy="892552"/>
            </a:xfrm>
            <a:prstGeom prst="rect">
              <a:avLst/>
            </a:prstGeom>
            <a:noFill/>
          </p:spPr>
          <p:txBody>
            <a:bodyPr wrap="square" lIns="135000" rIns="162000" rtlCol="0">
              <a:spAutoFit/>
            </a:bodyPr>
            <a:lstStyle/>
            <a:p>
              <a:r>
                <a:rPr lang="pt-BR" altLang="ko-KR" sz="405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Microdados</a:t>
              </a:r>
              <a:endParaRPr lang="ko-KR" altLang="en-US" sz="405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endParaRPr lang="ko-KR" altLang="en-US" sz="4050" b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50023C5-965C-4846-B5FE-74BDF0952721}"/>
                </a:ext>
              </a:extLst>
            </p:cNvPr>
            <p:cNvSpPr txBox="1"/>
            <p:nvPr/>
          </p:nvSpPr>
          <p:spPr>
            <a:xfrm>
              <a:off x="5735186" y="5590800"/>
              <a:ext cx="6051599" cy="800219"/>
            </a:xfrm>
            <a:prstGeom prst="rect">
              <a:avLst/>
            </a:prstGeom>
            <a:noFill/>
          </p:spPr>
          <p:txBody>
            <a:bodyPr wrap="square" lIns="108000" rIns="162000" rtlCol="0">
              <a:spAutoFit/>
            </a:bodyPr>
            <a:lstStyle/>
            <a:p>
              <a:r>
                <a:rPr lang="pt-BR"/>
                <a:t>Microdados consistem no menor nível de desagregação dos dados de uma pesquisa, retratando, sob a forma de códigos numéricos, o conteúdo dos questionários, preservado o sigilo das informações. Os microdados possibilitam aos usuários, com conhecimento de linguagens de programação ou softwares de cálculo, criar suas próprias tabelas.</a:t>
              </a:r>
              <a:endParaRPr lang="en-US" altLang="ko-KR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B74DB7E1-A48A-494B-AECB-05A670BA3036}"/>
              </a:ext>
            </a:extLst>
          </p:cNvPr>
          <p:cNvSpPr/>
          <p:nvPr/>
        </p:nvSpPr>
        <p:spPr>
          <a:xfrm>
            <a:off x="6873891" y="7956927"/>
            <a:ext cx="1188132" cy="118813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sp>
        <p:nvSpPr>
          <p:cNvPr id="93" name="Rectangle 9">
            <a:extLst>
              <a:ext uri="{FF2B5EF4-FFF2-40B4-BE49-F238E27FC236}">
                <a16:creationId xmlns:a16="http://schemas.microsoft.com/office/drawing/2014/main" id="{1F2CBF9C-E5CF-46C2-90FA-1F294CA4EC70}"/>
              </a:ext>
            </a:extLst>
          </p:cNvPr>
          <p:cNvSpPr/>
          <p:nvPr/>
        </p:nvSpPr>
        <p:spPr>
          <a:xfrm>
            <a:off x="7239088" y="8293472"/>
            <a:ext cx="494195" cy="46261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0"/>
          </a:p>
        </p:txBody>
      </p:sp>
      <p:sp>
        <p:nvSpPr>
          <p:cNvPr id="94" name="Rounded Rectangle 5">
            <a:extLst>
              <a:ext uri="{FF2B5EF4-FFF2-40B4-BE49-F238E27FC236}">
                <a16:creationId xmlns:a16="http://schemas.microsoft.com/office/drawing/2014/main" id="{28AE4F60-5F1C-4F5E-9670-B7F68F7C5BCC}"/>
              </a:ext>
            </a:extLst>
          </p:cNvPr>
          <p:cNvSpPr/>
          <p:nvPr/>
        </p:nvSpPr>
        <p:spPr>
          <a:xfrm flipH="1">
            <a:off x="7145759" y="6028355"/>
            <a:ext cx="587523" cy="48467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0"/>
          </a:p>
        </p:txBody>
      </p:sp>
      <p:sp>
        <p:nvSpPr>
          <p:cNvPr id="96" name="Rounded Rectangle 27">
            <a:extLst>
              <a:ext uri="{FF2B5EF4-FFF2-40B4-BE49-F238E27FC236}">
                <a16:creationId xmlns:a16="http://schemas.microsoft.com/office/drawing/2014/main" id="{8C352E97-5C14-405E-97EF-EA34B2335019}"/>
              </a:ext>
            </a:extLst>
          </p:cNvPr>
          <p:cNvSpPr/>
          <p:nvPr/>
        </p:nvSpPr>
        <p:spPr>
          <a:xfrm>
            <a:off x="7190267" y="1506220"/>
            <a:ext cx="519594" cy="39911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0"/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6793735E-A97B-48D8-A0B3-9E3A40151459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pic>
        <p:nvPicPr>
          <p:cNvPr id="15" name="Espaço Reservado para Imagem 60">
            <a:extLst>
              <a:ext uri="{FF2B5EF4-FFF2-40B4-BE49-F238E27FC236}">
                <a16:creationId xmlns:a16="http://schemas.microsoft.com/office/drawing/2014/main" id="{7742402E-565F-7C32-4EFB-9CCD7141E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3" b="63"/>
          <a:stretch/>
        </p:blipFill>
        <p:spPr>
          <a:xfrm>
            <a:off x="7091822" y="3570123"/>
            <a:ext cx="716484" cy="71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9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5451" y="1269480"/>
            <a:ext cx="17359796" cy="1086371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latin typeface="League Spartan"/>
              </a:rPr>
              <a:t>Arquitetura do Pipeline</a:t>
            </a:r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7DA24A4A-A9A7-41F8-A87C-7F427D6E6FB8}"/>
              </a:ext>
            </a:extLst>
          </p:cNvPr>
          <p:cNvSpPr/>
          <p:nvPr/>
        </p:nvSpPr>
        <p:spPr>
          <a:xfrm rot="21060000">
            <a:off x="11250161" y="7833922"/>
            <a:ext cx="6655277" cy="993387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28224" h="890619">
                <a:moveTo>
                  <a:pt x="0" y="516606"/>
                </a:moveTo>
                <a:lnTo>
                  <a:pt x="2031070" y="859867"/>
                </a:lnTo>
                <a:cubicBezTo>
                  <a:pt x="2397613" y="918840"/>
                  <a:pt x="2187777" y="875833"/>
                  <a:pt x="2199260" y="870442"/>
                </a:cubicBezTo>
                <a:lnTo>
                  <a:pt x="7028224" y="150534"/>
                </a:lnTo>
                <a:lnTo>
                  <a:pt x="4835116" y="0"/>
                </a:lnTo>
                <a:lnTo>
                  <a:pt x="0" y="516606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F4DAD673-AEB7-1CF2-0DA3-1DA7E3EDC717}"/>
              </a:ext>
            </a:extLst>
          </p:cNvPr>
          <p:cNvGrpSpPr/>
          <p:nvPr/>
        </p:nvGrpSpPr>
        <p:grpSpPr>
          <a:xfrm>
            <a:off x="838200" y="501553"/>
            <a:ext cx="16230600" cy="519683"/>
            <a:chOff x="0" y="0"/>
            <a:chExt cx="21640800" cy="692911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65938DAD-EF3E-79C0-1B51-15C8A99AB97B}"/>
                </a:ext>
              </a:extLst>
            </p:cNvPr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637A5AC6-C85E-8A0D-FCDD-F8BD9AC5178E}"/>
                </a:ext>
              </a:extLst>
            </p:cNvPr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Espaço Reservado para Número de Slide 2">
            <a:extLst>
              <a:ext uri="{FF2B5EF4-FFF2-40B4-BE49-F238E27FC236}">
                <a16:creationId xmlns:a16="http://schemas.microsoft.com/office/drawing/2014/main" id="{F68D9D0F-E242-ECDE-D825-0CC868E4F91C}"/>
              </a:ext>
            </a:extLst>
          </p:cNvPr>
          <p:cNvSpPr txBox="1">
            <a:spLocks/>
          </p:cNvSpPr>
          <p:nvPr/>
        </p:nvSpPr>
        <p:spPr>
          <a:xfrm>
            <a:off x="17188501" y="1084576"/>
            <a:ext cx="346746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200" smtClean="0">
                <a:solidFill>
                  <a:schemeClr val="bg1"/>
                </a:solidFill>
              </a:rPr>
              <a:pPr/>
              <a:t>5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35" name="Espaço Reservado para Rodapé 5">
            <a:extLst>
              <a:ext uri="{FF2B5EF4-FFF2-40B4-BE49-F238E27FC236}">
                <a16:creationId xmlns:a16="http://schemas.microsoft.com/office/drawing/2014/main" id="{4D857625-3BBF-ED33-C4E5-1055E8569355}"/>
              </a:ext>
            </a:extLst>
          </p:cNvPr>
          <p:cNvSpPr txBox="1">
            <a:spLocks/>
          </p:cNvSpPr>
          <p:nvPr/>
        </p:nvSpPr>
        <p:spPr>
          <a:xfrm>
            <a:off x="15226930" y="1084577"/>
            <a:ext cx="2700000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04E62A20-A682-2CA1-6BE8-75FA0C9463F8}"/>
              </a:ext>
            </a:extLst>
          </p:cNvPr>
          <p:cNvSpPr/>
          <p:nvPr/>
        </p:nvSpPr>
        <p:spPr>
          <a:xfrm>
            <a:off x="16992600" y="94522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CF0065-2D44-476E-BF0C-CBB304A162C1}"/>
              </a:ext>
            </a:extLst>
          </p:cNvPr>
          <p:cNvGrpSpPr/>
          <p:nvPr/>
        </p:nvGrpSpPr>
        <p:grpSpPr>
          <a:xfrm>
            <a:off x="15717346" y="2570842"/>
            <a:ext cx="1811867" cy="1811867"/>
            <a:chOff x="1259632" y="1927684"/>
            <a:chExt cx="2005372" cy="200537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AFB316-C9D7-4FAA-95FE-8060A01E776B}"/>
                </a:ext>
              </a:extLst>
            </p:cNvPr>
            <p:cNvSpPr/>
            <p:nvPr/>
          </p:nvSpPr>
          <p:spPr>
            <a:xfrm>
              <a:off x="1541124" y="2209176"/>
              <a:ext cx="1442389" cy="1442389"/>
            </a:xfrm>
            <a:prstGeom prst="ellipse">
              <a:avLst/>
            </a:prstGeom>
            <a:noFill/>
            <a:ln w="1270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6CFEED7-51A5-499D-9F92-2D1722953066}"/>
                </a:ext>
              </a:extLst>
            </p:cNvPr>
            <p:cNvSpPr/>
            <p:nvPr/>
          </p:nvSpPr>
          <p:spPr>
            <a:xfrm>
              <a:off x="1832924" y="2500976"/>
              <a:ext cx="858789" cy="858789"/>
            </a:xfrm>
            <a:prstGeom prst="ellipse">
              <a:avLst/>
            </a:prstGeom>
            <a:noFill/>
            <a:ln w="1270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48D793-06F6-49A5-AA05-6900ACB7D080}"/>
                </a:ext>
              </a:extLst>
            </p:cNvPr>
            <p:cNvSpPr/>
            <p:nvPr/>
          </p:nvSpPr>
          <p:spPr>
            <a:xfrm>
              <a:off x="1259632" y="1927684"/>
              <a:ext cx="2005372" cy="2005372"/>
            </a:xfrm>
            <a:prstGeom prst="ellipse">
              <a:avLst/>
            </a:prstGeom>
            <a:noFill/>
            <a:ln w="12700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3808DF8-B4E3-43E0-ABBF-7AE65C003B0E}"/>
              </a:ext>
            </a:extLst>
          </p:cNvPr>
          <p:cNvGrpSpPr/>
          <p:nvPr/>
        </p:nvGrpSpPr>
        <p:grpSpPr>
          <a:xfrm>
            <a:off x="12582694" y="3944525"/>
            <a:ext cx="4770921" cy="6231067"/>
            <a:chOff x="5710368" y="1700808"/>
            <a:chExt cx="2528707" cy="4176464"/>
          </a:xfrm>
        </p:grpSpPr>
        <p:sp>
          <p:nvSpPr>
            <p:cNvPr id="12" name="Flowchart: Data 6">
              <a:extLst>
                <a:ext uri="{FF2B5EF4-FFF2-40B4-BE49-F238E27FC236}">
                  <a16:creationId xmlns:a16="http://schemas.microsoft.com/office/drawing/2014/main" id="{D7D28EAC-1166-4BD2-82CA-7EF427E63146}"/>
                </a:ext>
              </a:extLst>
            </p:cNvPr>
            <p:cNvSpPr/>
            <p:nvPr/>
          </p:nvSpPr>
          <p:spPr>
            <a:xfrm flipH="1">
              <a:off x="6592296" y="3500344"/>
              <a:ext cx="1030423" cy="154661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2315 h 12315"/>
                <a:gd name="connsiteX1" fmla="*/ 2000 w 10000"/>
                <a:gd name="connsiteY1" fmla="*/ 0 h 12315"/>
                <a:gd name="connsiteX2" fmla="*/ 10000 w 10000"/>
                <a:gd name="connsiteY2" fmla="*/ 2315 h 12315"/>
                <a:gd name="connsiteX3" fmla="*/ 8000 w 10000"/>
                <a:gd name="connsiteY3" fmla="*/ 12315 h 12315"/>
                <a:gd name="connsiteX4" fmla="*/ 0 w 10000"/>
                <a:gd name="connsiteY4" fmla="*/ 12315 h 12315"/>
                <a:gd name="connsiteX0" fmla="*/ 0 w 10000"/>
                <a:gd name="connsiteY0" fmla="*/ 16614 h 16614"/>
                <a:gd name="connsiteX1" fmla="*/ 4728 w 10000"/>
                <a:gd name="connsiteY1" fmla="*/ 0 h 16614"/>
                <a:gd name="connsiteX2" fmla="*/ 10000 w 10000"/>
                <a:gd name="connsiteY2" fmla="*/ 6614 h 16614"/>
                <a:gd name="connsiteX3" fmla="*/ 8000 w 10000"/>
                <a:gd name="connsiteY3" fmla="*/ 16614 h 16614"/>
                <a:gd name="connsiteX4" fmla="*/ 0 w 10000"/>
                <a:gd name="connsiteY4" fmla="*/ 16614 h 16614"/>
                <a:gd name="connsiteX0" fmla="*/ 0 w 8016"/>
                <a:gd name="connsiteY0" fmla="*/ 5370 h 16614"/>
                <a:gd name="connsiteX1" fmla="*/ 2744 w 8016"/>
                <a:gd name="connsiteY1" fmla="*/ 0 h 16614"/>
                <a:gd name="connsiteX2" fmla="*/ 8016 w 8016"/>
                <a:gd name="connsiteY2" fmla="*/ 6614 h 16614"/>
                <a:gd name="connsiteX3" fmla="*/ 6016 w 8016"/>
                <a:gd name="connsiteY3" fmla="*/ 16614 h 16614"/>
                <a:gd name="connsiteX4" fmla="*/ 0 w 8016"/>
                <a:gd name="connsiteY4" fmla="*/ 5370 h 16614"/>
                <a:gd name="connsiteX0" fmla="*/ 0 w 9175"/>
                <a:gd name="connsiteY0" fmla="*/ 3431 h 10199"/>
                <a:gd name="connsiteX1" fmla="*/ 3423 w 9175"/>
                <a:gd name="connsiteY1" fmla="*/ 199 h 10199"/>
                <a:gd name="connsiteX2" fmla="*/ 9175 w 9175"/>
                <a:gd name="connsiteY2" fmla="*/ 0 h 10199"/>
                <a:gd name="connsiteX3" fmla="*/ 7505 w 9175"/>
                <a:gd name="connsiteY3" fmla="*/ 10199 h 10199"/>
                <a:gd name="connsiteX4" fmla="*/ 0 w 9175"/>
                <a:gd name="connsiteY4" fmla="*/ 3431 h 10199"/>
                <a:gd name="connsiteX0" fmla="*/ 0 w 10000"/>
                <a:gd name="connsiteY0" fmla="*/ 3364 h 3364"/>
                <a:gd name="connsiteX1" fmla="*/ 3731 w 10000"/>
                <a:gd name="connsiteY1" fmla="*/ 195 h 3364"/>
                <a:gd name="connsiteX2" fmla="*/ 10000 w 10000"/>
                <a:gd name="connsiteY2" fmla="*/ 0 h 3364"/>
                <a:gd name="connsiteX3" fmla="*/ 6831 w 10000"/>
                <a:gd name="connsiteY3" fmla="*/ 3169 h 3364"/>
                <a:gd name="connsiteX4" fmla="*/ 0 w 10000"/>
                <a:gd name="connsiteY4" fmla="*/ 3364 h 3364"/>
                <a:gd name="connsiteX0" fmla="*/ 0 w 10000"/>
                <a:gd name="connsiteY0" fmla="*/ 11741 h 11741"/>
                <a:gd name="connsiteX1" fmla="*/ 4068 w 10000"/>
                <a:gd name="connsiteY1" fmla="*/ 0 h 11741"/>
                <a:gd name="connsiteX2" fmla="*/ 10000 w 10000"/>
                <a:gd name="connsiteY2" fmla="*/ 1741 h 11741"/>
                <a:gd name="connsiteX3" fmla="*/ 6831 w 10000"/>
                <a:gd name="connsiteY3" fmla="*/ 11161 h 11741"/>
                <a:gd name="connsiteX4" fmla="*/ 0 w 10000"/>
                <a:gd name="connsiteY4" fmla="*/ 11741 h 11741"/>
                <a:gd name="connsiteX0" fmla="*/ 0 w 10000"/>
                <a:gd name="connsiteY0" fmla="*/ 10000 h 10000"/>
                <a:gd name="connsiteX1" fmla="*/ 4068 w 10000"/>
                <a:gd name="connsiteY1" fmla="*/ 580 h 10000"/>
                <a:gd name="connsiteX2" fmla="*/ 10000 w 10000"/>
                <a:gd name="connsiteY2" fmla="*/ 0 h 10000"/>
                <a:gd name="connsiteX3" fmla="*/ 6831 w 10000"/>
                <a:gd name="connsiteY3" fmla="*/ 9420 h 10000"/>
                <a:gd name="connsiteX4" fmla="*/ 0 w 10000"/>
                <a:gd name="connsiteY4" fmla="*/ 10000 h 10000"/>
                <a:gd name="connsiteX0" fmla="*/ 0 w 9830"/>
                <a:gd name="connsiteY0" fmla="*/ 8685 h 9420"/>
                <a:gd name="connsiteX1" fmla="*/ 3898 w 9830"/>
                <a:gd name="connsiteY1" fmla="*/ 580 h 9420"/>
                <a:gd name="connsiteX2" fmla="*/ 9830 w 9830"/>
                <a:gd name="connsiteY2" fmla="*/ 0 h 9420"/>
                <a:gd name="connsiteX3" fmla="*/ 6661 w 9830"/>
                <a:gd name="connsiteY3" fmla="*/ 9420 h 9420"/>
                <a:gd name="connsiteX4" fmla="*/ 0 w 9830"/>
                <a:gd name="connsiteY4" fmla="*/ 8685 h 9420"/>
                <a:gd name="connsiteX0" fmla="*/ 0 w 10000"/>
                <a:gd name="connsiteY0" fmla="*/ 9220 h 10000"/>
                <a:gd name="connsiteX1" fmla="*/ 3965 w 10000"/>
                <a:gd name="connsiteY1" fmla="*/ 616 h 10000"/>
                <a:gd name="connsiteX2" fmla="*/ 10000 w 10000"/>
                <a:gd name="connsiteY2" fmla="*/ 0 h 10000"/>
                <a:gd name="connsiteX3" fmla="*/ 6776 w 10000"/>
                <a:gd name="connsiteY3" fmla="*/ 10000 h 10000"/>
                <a:gd name="connsiteX4" fmla="*/ 0 w 10000"/>
                <a:gd name="connsiteY4" fmla="*/ 9220 h 10000"/>
                <a:gd name="connsiteX0" fmla="*/ 0 w 10000"/>
                <a:gd name="connsiteY0" fmla="*/ 9499 h 10000"/>
                <a:gd name="connsiteX1" fmla="*/ 3965 w 10000"/>
                <a:gd name="connsiteY1" fmla="*/ 616 h 10000"/>
                <a:gd name="connsiteX2" fmla="*/ 10000 w 10000"/>
                <a:gd name="connsiteY2" fmla="*/ 0 h 10000"/>
                <a:gd name="connsiteX3" fmla="*/ 6776 w 10000"/>
                <a:gd name="connsiteY3" fmla="*/ 10000 h 10000"/>
                <a:gd name="connsiteX4" fmla="*/ 0 w 10000"/>
                <a:gd name="connsiteY4" fmla="*/ 9499 h 10000"/>
                <a:gd name="connsiteX0" fmla="*/ 0 w 10000"/>
                <a:gd name="connsiteY0" fmla="*/ 9499 h 10000"/>
                <a:gd name="connsiteX1" fmla="*/ 4601 w 10000"/>
                <a:gd name="connsiteY1" fmla="*/ 58 h 10000"/>
                <a:gd name="connsiteX2" fmla="*/ 10000 w 10000"/>
                <a:gd name="connsiteY2" fmla="*/ 0 h 10000"/>
                <a:gd name="connsiteX3" fmla="*/ 6776 w 10000"/>
                <a:gd name="connsiteY3" fmla="*/ 10000 h 10000"/>
                <a:gd name="connsiteX4" fmla="*/ 0 w 10000"/>
                <a:gd name="connsiteY4" fmla="*/ 949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9499"/>
                  </a:moveTo>
                  <a:lnTo>
                    <a:pt x="4601" y="58"/>
                  </a:lnTo>
                  <a:lnTo>
                    <a:pt x="10000" y="0"/>
                  </a:lnTo>
                  <a:lnTo>
                    <a:pt x="6776" y="10000"/>
                  </a:lnTo>
                  <a:cubicBezTo>
                    <a:pt x="4517" y="9740"/>
                    <a:pt x="2403" y="9480"/>
                    <a:pt x="0" y="9499"/>
                  </a:cubicBezTo>
                  <a:close/>
                </a:path>
              </a:pathLst>
            </a:custGeom>
            <a:gradFill>
              <a:gsLst>
                <a:gs pos="99000">
                  <a:schemeClr val="accent4">
                    <a:lumMod val="48000"/>
                  </a:schemeClr>
                </a:gs>
                <a:gs pos="0">
                  <a:schemeClr val="accent4">
                    <a:lumMod val="90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EA0E56-E3E0-40AF-B652-92A41FF53E76}"/>
                </a:ext>
              </a:extLst>
            </p:cNvPr>
            <p:cNvSpPr/>
            <p:nvPr/>
          </p:nvSpPr>
          <p:spPr>
            <a:xfrm>
              <a:off x="6372200" y="3429000"/>
              <a:ext cx="720080" cy="1368152"/>
            </a:xfrm>
            <a:prstGeom prst="rect">
              <a:avLst/>
            </a:prstGeom>
            <a:gradFill flip="none" rotWithShape="1">
              <a:gsLst>
                <a:gs pos="99000">
                  <a:schemeClr val="accent4">
                    <a:lumMod val="73000"/>
                  </a:schemeClr>
                </a:gs>
                <a:gs pos="0">
                  <a:schemeClr val="accent4">
                    <a:lumMod val="94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0466618" lon="2567695" rev="2059885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14" name="Flowchart: Data 6">
              <a:extLst>
                <a:ext uri="{FF2B5EF4-FFF2-40B4-BE49-F238E27FC236}">
                  <a16:creationId xmlns:a16="http://schemas.microsoft.com/office/drawing/2014/main" id="{ACC24D87-9F74-4C23-8546-CF7A6EB93527}"/>
                </a:ext>
              </a:extLst>
            </p:cNvPr>
            <p:cNvSpPr/>
            <p:nvPr/>
          </p:nvSpPr>
          <p:spPr>
            <a:xfrm flipH="1">
              <a:off x="5916298" y="4572715"/>
              <a:ext cx="954624" cy="164183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2315 h 12315"/>
                <a:gd name="connsiteX1" fmla="*/ 2000 w 10000"/>
                <a:gd name="connsiteY1" fmla="*/ 0 h 12315"/>
                <a:gd name="connsiteX2" fmla="*/ 10000 w 10000"/>
                <a:gd name="connsiteY2" fmla="*/ 2315 h 12315"/>
                <a:gd name="connsiteX3" fmla="*/ 8000 w 10000"/>
                <a:gd name="connsiteY3" fmla="*/ 12315 h 12315"/>
                <a:gd name="connsiteX4" fmla="*/ 0 w 10000"/>
                <a:gd name="connsiteY4" fmla="*/ 12315 h 12315"/>
                <a:gd name="connsiteX0" fmla="*/ 0 w 10000"/>
                <a:gd name="connsiteY0" fmla="*/ 16614 h 16614"/>
                <a:gd name="connsiteX1" fmla="*/ 4728 w 10000"/>
                <a:gd name="connsiteY1" fmla="*/ 0 h 16614"/>
                <a:gd name="connsiteX2" fmla="*/ 10000 w 10000"/>
                <a:gd name="connsiteY2" fmla="*/ 6614 h 16614"/>
                <a:gd name="connsiteX3" fmla="*/ 8000 w 10000"/>
                <a:gd name="connsiteY3" fmla="*/ 16614 h 16614"/>
                <a:gd name="connsiteX4" fmla="*/ 0 w 10000"/>
                <a:gd name="connsiteY4" fmla="*/ 16614 h 16614"/>
                <a:gd name="connsiteX0" fmla="*/ 0 w 8016"/>
                <a:gd name="connsiteY0" fmla="*/ 5370 h 16614"/>
                <a:gd name="connsiteX1" fmla="*/ 2744 w 8016"/>
                <a:gd name="connsiteY1" fmla="*/ 0 h 16614"/>
                <a:gd name="connsiteX2" fmla="*/ 8016 w 8016"/>
                <a:gd name="connsiteY2" fmla="*/ 6614 h 16614"/>
                <a:gd name="connsiteX3" fmla="*/ 6016 w 8016"/>
                <a:gd name="connsiteY3" fmla="*/ 16614 h 16614"/>
                <a:gd name="connsiteX4" fmla="*/ 0 w 8016"/>
                <a:gd name="connsiteY4" fmla="*/ 5370 h 16614"/>
                <a:gd name="connsiteX0" fmla="*/ 0 w 9175"/>
                <a:gd name="connsiteY0" fmla="*/ 3431 h 10199"/>
                <a:gd name="connsiteX1" fmla="*/ 3423 w 9175"/>
                <a:gd name="connsiteY1" fmla="*/ 199 h 10199"/>
                <a:gd name="connsiteX2" fmla="*/ 9175 w 9175"/>
                <a:gd name="connsiteY2" fmla="*/ 0 h 10199"/>
                <a:gd name="connsiteX3" fmla="*/ 7505 w 9175"/>
                <a:gd name="connsiteY3" fmla="*/ 10199 h 10199"/>
                <a:gd name="connsiteX4" fmla="*/ 0 w 9175"/>
                <a:gd name="connsiteY4" fmla="*/ 3431 h 10199"/>
                <a:gd name="connsiteX0" fmla="*/ 0 w 10000"/>
                <a:gd name="connsiteY0" fmla="*/ 3364 h 3364"/>
                <a:gd name="connsiteX1" fmla="*/ 3731 w 10000"/>
                <a:gd name="connsiteY1" fmla="*/ 195 h 3364"/>
                <a:gd name="connsiteX2" fmla="*/ 10000 w 10000"/>
                <a:gd name="connsiteY2" fmla="*/ 0 h 3364"/>
                <a:gd name="connsiteX3" fmla="*/ 6831 w 10000"/>
                <a:gd name="connsiteY3" fmla="*/ 3169 h 3364"/>
                <a:gd name="connsiteX4" fmla="*/ 0 w 10000"/>
                <a:gd name="connsiteY4" fmla="*/ 3364 h 3364"/>
                <a:gd name="connsiteX0" fmla="*/ 0 w 10000"/>
                <a:gd name="connsiteY0" fmla="*/ 11741 h 11741"/>
                <a:gd name="connsiteX1" fmla="*/ 4068 w 10000"/>
                <a:gd name="connsiteY1" fmla="*/ 0 h 11741"/>
                <a:gd name="connsiteX2" fmla="*/ 10000 w 10000"/>
                <a:gd name="connsiteY2" fmla="*/ 1741 h 11741"/>
                <a:gd name="connsiteX3" fmla="*/ 6831 w 10000"/>
                <a:gd name="connsiteY3" fmla="*/ 11161 h 11741"/>
                <a:gd name="connsiteX4" fmla="*/ 0 w 10000"/>
                <a:gd name="connsiteY4" fmla="*/ 11741 h 11741"/>
                <a:gd name="connsiteX0" fmla="*/ 0 w 10000"/>
                <a:gd name="connsiteY0" fmla="*/ 10000 h 10000"/>
                <a:gd name="connsiteX1" fmla="*/ 4068 w 10000"/>
                <a:gd name="connsiteY1" fmla="*/ 580 h 10000"/>
                <a:gd name="connsiteX2" fmla="*/ 10000 w 10000"/>
                <a:gd name="connsiteY2" fmla="*/ 0 h 10000"/>
                <a:gd name="connsiteX3" fmla="*/ 6831 w 10000"/>
                <a:gd name="connsiteY3" fmla="*/ 9420 h 10000"/>
                <a:gd name="connsiteX4" fmla="*/ 0 w 10000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4068" y="580"/>
                  </a:lnTo>
                  <a:lnTo>
                    <a:pt x="10000" y="0"/>
                  </a:lnTo>
                  <a:lnTo>
                    <a:pt x="6831" y="9420"/>
                  </a:lnTo>
                  <a:lnTo>
                    <a:pt x="0" y="10000"/>
                  </a:lnTo>
                  <a:close/>
                </a:path>
              </a:pathLst>
            </a:custGeom>
            <a:gradFill>
              <a:gsLst>
                <a:gs pos="99000">
                  <a:schemeClr val="accent4">
                    <a:lumMod val="17000"/>
                  </a:schemeClr>
                </a:gs>
                <a:gs pos="0">
                  <a:schemeClr val="accent4">
                    <a:lumMod val="78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11" name="Up Arrow 3">
              <a:extLst>
                <a:ext uri="{FF2B5EF4-FFF2-40B4-BE49-F238E27FC236}">
                  <a16:creationId xmlns:a16="http://schemas.microsoft.com/office/drawing/2014/main" id="{846E3308-1227-42F0-8615-87D6DB0D661D}"/>
                </a:ext>
              </a:extLst>
            </p:cNvPr>
            <p:cNvSpPr/>
            <p:nvPr/>
          </p:nvSpPr>
          <p:spPr>
            <a:xfrm>
              <a:off x="6870923" y="1700808"/>
              <a:ext cx="1368152" cy="2035274"/>
            </a:xfrm>
            <a:prstGeom prst="upArrow">
              <a:avLst/>
            </a:prstGeom>
            <a:gradFill flip="none" rotWithShape="1">
              <a:gsLst>
                <a:gs pos="99000">
                  <a:schemeClr val="accent4"/>
                </a:gs>
                <a:gs pos="0">
                  <a:schemeClr val="accent4">
                    <a:lumMod val="86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>
                <a:rot lat="20466618" lon="2567695" rev="2059885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2F10B8E-F981-4D58-B99F-780915BB8A7D}"/>
                </a:ext>
              </a:extLst>
            </p:cNvPr>
            <p:cNvSpPr/>
            <p:nvPr/>
          </p:nvSpPr>
          <p:spPr>
            <a:xfrm>
              <a:off x="5710368" y="4509120"/>
              <a:ext cx="720080" cy="1368152"/>
            </a:xfrm>
            <a:prstGeom prst="rect">
              <a:avLst/>
            </a:prstGeom>
            <a:gradFill flip="none" rotWithShape="1">
              <a:gsLst>
                <a:gs pos="99000">
                  <a:schemeClr val="accent4">
                    <a:lumMod val="62000"/>
                  </a:schemeClr>
                </a:gs>
                <a:gs pos="44000">
                  <a:schemeClr val="accent4">
                    <a:lumMod val="80000"/>
                  </a:schemeClr>
                </a:gs>
              </a:gsLst>
              <a:lin ang="5400000" scaled="1"/>
              <a:tileRect/>
            </a:gradFill>
            <a:ln>
              <a:noFill/>
            </a:ln>
            <a:scene3d>
              <a:camera prst="orthographicFront">
                <a:rot lat="20466618" lon="2567695" rev="20598856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7BB3E91-EB38-9D77-A88C-5547DF4C7A26}"/>
              </a:ext>
            </a:extLst>
          </p:cNvPr>
          <p:cNvSpPr txBox="1"/>
          <p:nvPr/>
        </p:nvSpPr>
        <p:spPr>
          <a:xfrm>
            <a:off x="590964" y="2973013"/>
            <a:ext cx="398420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O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fluxo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transformação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dos dados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inicia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com 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captura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arquivos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do IBGE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relacionados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à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saúde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comportamento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economia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. Em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seguida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dados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passam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por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um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processo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ETL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refinamento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realizando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limpeza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padronização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conversão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para o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formato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Parquet.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Depois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etapa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spec_to_trusted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utiliza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consultas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SQL para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gerar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tabelas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analíticas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estruturadas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. Por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fim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dados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apresentados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em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dashboards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interativos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desenvolvidos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com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Streamlit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facilitando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visualização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análise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das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informações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para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apoio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à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tomada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de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decisão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pt-BR"/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91BC0C26-366E-243B-E470-9802197E4260}"/>
              </a:ext>
            </a:extLst>
          </p:cNvPr>
          <p:cNvGrpSpPr/>
          <p:nvPr/>
        </p:nvGrpSpPr>
        <p:grpSpPr>
          <a:xfrm>
            <a:off x="357521" y="2328897"/>
            <a:ext cx="5178266" cy="6699806"/>
            <a:chOff x="0" y="-38100"/>
            <a:chExt cx="1363823" cy="1499274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70D5E9A4-8B31-7745-6C73-A869C2F3FA56}"/>
                </a:ext>
              </a:extLst>
            </p:cNvPr>
            <p:cNvSpPr/>
            <p:nvPr/>
          </p:nvSpPr>
          <p:spPr>
            <a:xfrm>
              <a:off x="0" y="0"/>
              <a:ext cx="1363823" cy="1461174"/>
            </a:xfrm>
            <a:custGeom>
              <a:avLst/>
              <a:gdLst/>
              <a:ahLst/>
              <a:cxnLst/>
              <a:rect l="l" t="t" r="r" b="b"/>
              <a:pathLst>
                <a:path w="1363823" h="1461174">
                  <a:moveTo>
                    <a:pt x="88210" y="0"/>
                  </a:moveTo>
                  <a:lnTo>
                    <a:pt x="1275614" y="0"/>
                  </a:lnTo>
                  <a:cubicBezTo>
                    <a:pt x="1299008" y="0"/>
                    <a:pt x="1321445" y="9293"/>
                    <a:pt x="1337987" y="25836"/>
                  </a:cubicBezTo>
                  <a:cubicBezTo>
                    <a:pt x="1354530" y="42379"/>
                    <a:pt x="1363823" y="64815"/>
                    <a:pt x="1363823" y="88210"/>
                  </a:cubicBezTo>
                  <a:lnTo>
                    <a:pt x="1363823" y="1372964"/>
                  </a:lnTo>
                  <a:cubicBezTo>
                    <a:pt x="1363823" y="1396359"/>
                    <a:pt x="1354530" y="1418795"/>
                    <a:pt x="1337987" y="1435338"/>
                  </a:cubicBezTo>
                  <a:cubicBezTo>
                    <a:pt x="1321445" y="1451880"/>
                    <a:pt x="1299008" y="1461174"/>
                    <a:pt x="1275614" y="1461174"/>
                  </a:cubicBezTo>
                  <a:lnTo>
                    <a:pt x="88210" y="1461174"/>
                  </a:lnTo>
                  <a:cubicBezTo>
                    <a:pt x="64815" y="1461174"/>
                    <a:pt x="42379" y="1451880"/>
                    <a:pt x="25836" y="1435338"/>
                  </a:cubicBezTo>
                  <a:cubicBezTo>
                    <a:pt x="9293" y="1418795"/>
                    <a:pt x="0" y="1396359"/>
                    <a:pt x="0" y="1372964"/>
                  </a:cubicBezTo>
                  <a:lnTo>
                    <a:pt x="0" y="88210"/>
                  </a:lnTo>
                  <a:cubicBezTo>
                    <a:pt x="0" y="64815"/>
                    <a:pt x="9293" y="42379"/>
                    <a:pt x="25836" y="25836"/>
                  </a:cubicBezTo>
                  <a:cubicBezTo>
                    <a:pt x="42379" y="9293"/>
                    <a:pt x="64815" y="0"/>
                    <a:pt x="88210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FCBE7779-637C-D828-0340-96FAA6A89F36}"/>
                </a:ext>
              </a:extLst>
            </p:cNvPr>
            <p:cNvSpPr txBox="1"/>
            <p:nvPr/>
          </p:nvSpPr>
          <p:spPr>
            <a:xfrm>
              <a:off x="0" y="-38100"/>
              <a:ext cx="1363823" cy="1499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24" name="TextBox 14">
            <a:extLst>
              <a:ext uri="{FF2B5EF4-FFF2-40B4-BE49-F238E27FC236}">
                <a16:creationId xmlns:a16="http://schemas.microsoft.com/office/drawing/2014/main" id="{AFD2CC6C-6DAC-B46B-3DEA-3CA0D792D739}"/>
              </a:ext>
            </a:extLst>
          </p:cNvPr>
          <p:cNvSpPr txBox="1"/>
          <p:nvPr/>
        </p:nvSpPr>
        <p:spPr>
          <a:xfrm>
            <a:off x="844780" y="4554925"/>
            <a:ext cx="4488111" cy="392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pt-BR" sz="2000" dirty="0">
                <a:ea typeface="+mn-lt"/>
                <a:cs typeface="+mn-lt"/>
              </a:rPr>
              <a:t>O fluxo de transformação dos dados inicia com a captura de arquivos do IBGE relacionados à saúde, comportamento e economia. Os dados passam por um processo de ETL de refinamento, realizando limpeza, padronização e conversão para o formato Parquet. Depois, a etapa </a:t>
            </a:r>
            <a:r>
              <a:rPr lang="pt-BR" sz="2000" dirty="0" err="1">
                <a:ea typeface="+mn-lt"/>
                <a:cs typeface="+mn-lt"/>
              </a:rPr>
              <a:t>spec_to_trusted</a:t>
            </a:r>
            <a:r>
              <a:rPr lang="pt-BR" sz="2000" dirty="0">
                <a:ea typeface="+mn-lt"/>
                <a:cs typeface="+mn-lt"/>
              </a:rPr>
              <a:t> utiliza consultas SQL para gerar tabelas analíticas estruturadas. Por fim, os dados são apresentados em dashboards de </a:t>
            </a:r>
            <a:r>
              <a:rPr lang="pt-BR" sz="2000" dirty="0" err="1">
                <a:ea typeface="+mn-lt"/>
                <a:cs typeface="+mn-lt"/>
              </a:rPr>
              <a:t>Streamlit</a:t>
            </a:r>
            <a:r>
              <a:rPr lang="pt-BR" dirty="0">
                <a:ea typeface="+mn-lt"/>
                <a:cs typeface="+mn-lt"/>
              </a:rPr>
              <a:t>.</a:t>
            </a:r>
            <a:endParaRPr lang="pt-BR" dirty="0">
              <a:latin typeface="Eastman Grotesque" panose="020B0604020202020204" charset="0"/>
              <a:ea typeface="Eastman Grotesque"/>
              <a:cs typeface="Eastman Grotesque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E21CD1C-F0C8-FCFA-76A2-DE6B552FC848}"/>
              </a:ext>
            </a:extLst>
          </p:cNvPr>
          <p:cNvSpPr txBox="1"/>
          <p:nvPr/>
        </p:nvSpPr>
        <p:spPr>
          <a:xfrm>
            <a:off x="839370" y="2688368"/>
            <a:ext cx="4479450" cy="158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3"/>
              </a:lnSpc>
            </a:pPr>
            <a:r>
              <a:rPr lang="en-US" sz="5550" err="1">
                <a:solidFill>
                  <a:srgbClr val="FFFFFF"/>
                </a:solidFill>
                <a:latin typeface="League Spartan"/>
              </a:rPr>
              <a:t>Sobre</a:t>
            </a:r>
            <a:r>
              <a:rPr lang="en-US" sz="5550">
                <a:solidFill>
                  <a:srgbClr val="FFFFFF"/>
                </a:solidFill>
                <a:latin typeface="League Spartan"/>
              </a:rPr>
              <a:t> </a:t>
            </a:r>
            <a:endParaRPr lang="pt-B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6103"/>
              </a:lnSpc>
            </a:pPr>
            <a:r>
              <a:rPr lang="en-US" sz="5550">
                <a:solidFill>
                  <a:srgbClr val="FFFFFF"/>
                </a:solidFill>
                <a:latin typeface="League Spartan"/>
              </a:rPr>
              <a:t>o </a:t>
            </a:r>
            <a:r>
              <a:rPr lang="en-US" sz="5550" err="1">
                <a:solidFill>
                  <a:srgbClr val="FFFFFF"/>
                </a:solidFill>
                <a:latin typeface="League Spartan"/>
              </a:rPr>
              <a:t>fluxo</a:t>
            </a:r>
            <a:endParaRPr lang="pt-BR" err="1">
              <a:ea typeface="Calibri"/>
              <a:cs typeface="Calibri"/>
            </a:endParaRPr>
          </a:p>
        </p:txBody>
      </p:sp>
      <p:grpSp>
        <p:nvGrpSpPr>
          <p:cNvPr id="30" name="Group 6">
            <a:extLst>
              <a:ext uri="{FF2B5EF4-FFF2-40B4-BE49-F238E27FC236}">
                <a16:creationId xmlns:a16="http://schemas.microsoft.com/office/drawing/2014/main" id="{5F171EF3-2876-939E-898B-043D7196ADBA}"/>
              </a:ext>
            </a:extLst>
          </p:cNvPr>
          <p:cNvGrpSpPr/>
          <p:nvPr/>
        </p:nvGrpSpPr>
        <p:grpSpPr>
          <a:xfrm>
            <a:off x="4920230" y="2281717"/>
            <a:ext cx="792181" cy="792181"/>
            <a:chOff x="0" y="0"/>
            <a:chExt cx="812800" cy="812800"/>
          </a:xfrm>
        </p:grpSpPr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2FAE4538-B5F9-BF2E-1C1B-D0A16F5A4B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145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E7CB56E0-274C-91E9-DF6F-4D4EA9B4A57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320" tIns="40320" rIns="40320" bIns="4032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pic>
        <p:nvPicPr>
          <p:cNvPr id="32" name="Imagem 31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F52C38F5-12AE-9E1E-69B1-B207BB6DE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364" y="3188373"/>
            <a:ext cx="7408674" cy="475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6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598C9-DB8A-7B6E-F8B2-09E4B962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EDBA84-81FD-2DBB-28C5-1E30E6379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578" y="2025022"/>
            <a:ext cx="17359796" cy="1086371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7200">
                <a:solidFill>
                  <a:srgbClr val="7A7A7A"/>
                </a:solidFill>
                <a:latin typeface="League Spartan"/>
                <a:cs typeface="Arial"/>
              </a:rPr>
              <a:t>Bases de </a:t>
            </a:r>
            <a:r>
              <a:rPr lang="en-US" sz="7200" err="1">
                <a:solidFill>
                  <a:srgbClr val="7A7A7A"/>
                </a:solidFill>
                <a:latin typeface="League Spartan"/>
                <a:cs typeface="Arial"/>
              </a:rPr>
              <a:t>saída</a:t>
            </a:r>
            <a:endParaRPr lang="en-US" sz="7200" err="1">
              <a:solidFill>
                <a:srgbClr val="000000"/>
              </a:solidFill>
              <a:latin typeface="League Spartan"/>
              <a:cs typeface="Arial"/>
            </a:endParaRPr>
          </a:p>
          <a:p>
            <a:endParaRPr lang="en-US" sz="5400">
              <a:solidFill>
                <a:schemeClr val="bg1"/>
              </a:solidFill>
              <a:latin typeface="League Spartan"/>
            </a:endParaRPr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11F40084-2D19-09E6-AFC9-B0DE8A2731F4}"/>
              </a:ext>
            </a:extLst>
          </p:cNvPr>
          <p:cNvSpPr/>
          <p:nvPr/>
        </p:nvSpPr>
        <p:spPr>
          <a:xfrm rot="21060000">
            <a:off x="11250161" y="7833922"/>
            <a:ext cx="6655277" cy="993387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28224" h="890619">
                <a:moveTo>
                  <a:pt x="0" y="516606"/>
                </a:moveTo>
                <a:lnTo>
                  <a:pt x="2031070" y="859867"/>
                </a:lnTo>
                <a:cubicBezTo>
                  <a:pt x="2397613" y="918840"/>
                  <a:pt x="2187777" y="875833"/>
                  <a:pt x="2199260" y="870442"/>
                </a:cubicBezTo>
                <a:lnTo>
                  <a:pt x="7028224" y="150534"/>
                </a:lnTo>
                <a:lnTo>
                  <a:pt x="4835116" y="0"/>
                </a:lnTo>
                <a:lnTo>
                  <a:pt x="0" y="516606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B1BA2053-1F6A-12F6-A1D6-2D789ADD4A91}"/>
              </a:ext>
            </a:extLst>
          </p:cNvPr>
          <p:cNvGrpSpPr/>
          <p:nvPr/>
        </p:nvGrpSpPr>
        <p:grpSpPr>
          <a:xfrm>
            <a:off x="838200" y="501553"/>
            <a:ext cx="16230600" cy="519683"/>
            <a:chOff x="0" y="0"/>
            <a:chExt cx="21640800" cy="692911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B17E7FEC-2D71-9786-C8B3-1C09E39D5713}"/>
                </a:ext>
              </a:extLst>
            </p:cNvPr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970B361-8050-2D03-82AC-CDCAB8BF91BC}"/>
                </a:ext>
              </a:extLst>
            </p:cNvPr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Espaço Reservado para Número de Slide 2">
            <a:extLst>
              <a:ext uri="{FF2B5EF4-FFF2-40B4-BE49-F238E27FC236}">
                <a16:creationId xmlns:a16="http://schemas.microsoft.com/office/drawing/2014/main" id="{F5AF2AE7-8829-66B5-10DF-DA86D5F5C560}"/>
              </a:ext>
            </a:extLst>
          </p:cNvPr>
          <p:cNvSpPr txBox="1">
            <a:spLocks/>
          </p:cNvSpPr>
          <p:nvPr/>
        </p:nvSpPr>
        <p:spPr>
          <a:xfrm>
            <a:off x="17188501" y="1084576"/>
            <a:ext cx="346746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200" smtClean="0">
                <a:solidFill>
                  <a:schemeClr val="bg1"/>
                </a:solidFill>
              </a:rPr>
              <a:pPr/>
              <a:t>6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35" name="Espaço Reservado para Rodapé 5">
            <a:extLst>
              <a:ext uri="{FF2B5EF4-FFF2-40B4-BE49-F238E27FC236}">
                <a16:creationId xmlns:a16="http://schemas.microsoft.com/office/drawing/2014/main" id="{94D833C5-DFD4-D1D4-60AE-B7EBB03F7F6C}"/>
              </a:ext>
            </a:extLst>
          </p:cNvPr>
          <p:cNvSpPr txBox="1">
            <a:spLocks/>
          </p:cNvSpPr>
          <p:nvPr/>
        </p:nvSpPr>
        <p:spPr>
          <a:xfrm>
            <a:off x="15226930" y="1084577"/>
            <a:ext cx="2700000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1C1CEB99-F30A-C0CC-1F21-3160645D7CAA}"/>
              </a:ext>
            </a:extLst>
          </p:cNvPr>
          <p:cNvSpPr/>
          <p:nvPr/>
        </p:nvSpPr>
        <p:spPr>
          <a:xfrm>
            <a:off x="16992600" y="94522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F2E7A008-3B32-72D8-0D28-9345AE3DE8FD}"/>
              </a:ext>
            </a:extLst>
          </p:cNvPr>
          <p:cNvSpPr txBox="1"/>
          <p:nvPr/>
        </p:nvSpPr>
        <p:spPr>
          <a:xfrm>
            <a:off x="1931475" y="2857915"/>
            <a:ext cx="5857219" cy="577081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pt-BR" sz="1950">
                <a:solidFill>
                  <a:schemeClr val="bg1"/>
                </a:solidFill>
                <a:ea typeface="+mn-lt"/>
                <a:cs typeface="+mn-lt"/>
              </a:rPr>
              <a:t>As tabelas do projeto foram organizadas em dimensões e bases temáticas para facilitar análises sobre os impactos da pandemia. As dimensões armazenam informações de contexto, como perfil demográfico, localização, período da pesquisa e dicionário de variáveis, permitindo segmentar os dados por região, faixa etária, escolaridade e período. Já as bases temáticas concentram os dados analíticos principais, divididos em saúde, comportamento, economia e trabalho, trazendo informações sobre sintomas da COVID-19, uso de máscara, mercado de trabalho, renda, benefícios sociais, home office e vínculos empregatícios. Todas as tabelas podem ser relacionadas por chaves de identificação comuns, permitindo análises integradas e estratégicas sobre os efeitos da pandemia na população brasileira.  </a:t>
            </a:r>
          </a:p>
          <a:p>
            <a:endParaRPr lang="pt-BR" sz="195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t-BR" sz="1950">
                <a:solidFill>
                  <a:schemeClr val="bg1"/>
                </a:solidFill>
                <a:ea typeface="+mn-lt"/>
                <a:cs typeface="+mn-lt"/>
              </a:rPr>
              <a:t>Para saber mais no detalhe acesse o arquivo Draw.io</a:t>
            </a:r>
          </a:p>
          <a:p>
            <a:endParaRPr lang="en-US" altLang="ko-KR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1" name="Imagem 20" descr="Interface gráfica do usuário, Tabela&#10;&#10;O conteúdo gerado por IA pode estar incorreto.">
            <a:extLst>
              <a:ext uri="{FF2B5EF4-FFF2-40B4-BE49-F238E27FC236}">
                <a16:creationId xmlns:a16="http://schemas.microsoft.com/office/drawing/2014/main" id="{21693BEA-9CCD-EB93-D229-32FC6464C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321" y="2509937"/>
            <a:ext cx="7728513" cy="525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8684" y="2013687"/>
            <a:ext cx="16281760" cy="137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sz="7200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Bases de </a:t>
            </a:r>
            <a:r>
              <a:rPr lang="en-US" sz="72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saída</a:t>
            </a:r>
            <a:endParaRPr lang="en-US" sz="7200">
              <a:solidFill>
                <a:srgbClr val="ED145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0" y="3899657"/>
            <a:ext cx="6911267" cy="5675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sz="2000">
              <a:solidFill>
                <a:schemeClr val="bg1"/>
              </a:solidFill>
              <a:latin typeface="Eastman Grotesque"/>
            </a:endParaRPr>
          </a:p>
          <a:p>
            <a:pPr algn="l">
              <a:lnSpc>
                <a:spcPts val="2800"/>
              </a:lnSpc>
            </a:pPr>
            <a:endParaRPr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BASE_SAUDE: sintomas clínicos, busca por atendimento, internação, testagem e comorbidades pré-existentes.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BASE_COMPORTAMENTO: comportamentos adotados durante a pandemia — uso de máscara, busca por atendimento, situação no mercado de trabalho na semana da entrevista.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BASE_ECONOMICO: renda efetiva recebida, auxílios governamentais, benefícios e vínculo empregatício.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BASE_TRABALHO: características detalhadas do trabalho — tipo de ocupação, porte do empregador, formas de remuneração habitual e efetiva, home office, afastamento, busca por emprego.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Eastman Grotesque"/>
              <a:ea typeface="Eastman Grotesque"/>
              <a:cs typeface="Eastman Grotesque"/>
              <a:sym typeface="Eastman Grotesqu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4885885"/>
            <a:ext cx="6781800" cy="4895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DIM_TEMPO: Granularidade: 1 linha por combinação única de mês × número de entrevista.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DIM_PERFIL: Perfil demográfico e escolar de cada morador. Todas as colunas categóricas já contêm o texto legível.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DIM_LOCALIZACAO: Localização geográfica do domicílio.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>
                <a:solidFill>
                  <a:schemeClr val="bg1"/>
                </a:solidFill>
                <a:latin typeface="Eastman Grotesque"/>
              </a:rPr>
              <a:t>DIM_DICIONARIO: Catálogo de dados: documenta cada uma das 148 variáveis do pipeline. Não tem FK física — use para consulta de linhagem.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2000">
              <a:solidFill>
                <a:srgbClr val="FFFFFF"/>
              </a:solidFill>
              <a:latin typeface="Eastman Grotesque"/>
            </a:endParaRP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Eastman Grotesque"/>
              <a:ea typeface="Eastman Grotesque"/>
              <a:cs typeface="Eastman Grotesque"/>
              <a:sym typeface="Eastman Grotesque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666684" y="89188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519683"/>
            <a:chOff x="0" y="0"/>
            <a:chExt cx="21640800" cy="692911"/>
          </a:xfrm>
        </p:grpSpPr>
        <p:sp>
          <p:nvSpPr>
            <p:cNvPr id="8" name="Freeform 8"/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259299" y="9563100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Número de Slide 2">
            <a:extLst>
              <a:ext uri="{FF2B5EF4-FFF2-40B4-BE49-F238E27FC236}">
                <a16:creationId xmlns:a16="http://schemas.microsoft.com/office/drawing/2014/main" id="{AD27571F-3AAB-B422-FAD8-BC871F3DADCE}"/>
              </a:ext>
            </a:extLst>
          </p:cNvPr>
          <p:cNvSpPr txBox="1">
            <a:spLocks/>
          </p:cNvSpPr>
          <p:nvPr/>
        </p:nvSpPr>
        <p:spPr>
          <a:xfrm>
            <a:off x="16990925" y="1601139"/>
            <a:ext cx="536749" cy="20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pt-BR" sz="12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100" smtClean="0">
                <a:effectLst/>
              </a:rPr>
              <a:pPr/>
              <a:t>7</a:t>
            </a:fld>
            <a:endParaRPr lang="pt-BR" sz="1100">
              <a:effectLst/>
            </a:endParaRPr>
          </a:p>
        </p:txBody>
      </p:sp>
      <p:sp>
        <p:nvSpPr>
          <p:cNvPr id="12" name="Espaço Reservado para Rodapé 5">
            <a:extLst>
              <a:ext uri="{FF2B5EF4-FFF2-40B4-BE49-F238E27FC236}">
                <a16:creationId xmlns:a16="http://schemas.microsoft.com/office/drawing/2014/main" id="{8A8B2522-BC96-AAD6-4673-39EE3FE6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82588" y="1578205"/>
            <a:ext cx="3035545" cy="230537"/>
          </a:xfrm>
        </p:spPr>
        <p:txBody>
          <a:bodyPr/>
          <a:lstStyle/>
          <a:p>
            <a:r>
              <a:rPr lang="pt-BR" sz="11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1A0C2BF-35CF-1A14-11D9-66313F1EFE21}"/>
              </a:ext>
            </a:extLst>
          </p:cNvPr>
          <p:cNvSpPr txBox="1"/>
          <p:nvPr/>
        </p:nvSpPr>
        <p:spPr>
          <a:xfrm>
            <a:off x="1028699" y="3363554"/>
            <a:ext cx="14766553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pt-BR" sz="1600">
                <a:solidFill>
                  <a:srgbClr val="FFFFFF"/>
                </a:solidFill>
                <a:latin typeface="Eastman Grotesque"/>
              </a:rPr>
              <a:t>As dimensões descrevem os atributos de contexto de cada entrevistado. São a base para estratificar qualquer análise por perfil, localização ou tempo</a:t>
            </a:r>
            <a:r>
              <a:rPr lang="en-US" sz="2000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Eastman Grotesque"/>
              <a:ea typeface="Eastman Grotesque"/>
              <a:cs typeface="Eastman Grotesque"/>
              <a:sym typeface="Eastman Grotesque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4E445C6C-92C1-7E4B-F885-860B1C15BC00}"/>
              </a:ext>
            </a:extLst>
          </p:cNvPr>
          <p:cNvSpPr txBox="1"/>
          <p:nvPr/>
        </p:nvSpPr>
        <p:spPr>
          <a:xfrm>
            <a:off x="884798" y="3414118"/>
            <a:ext cx="3741997" cy="121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sz="32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Dimensões</a:t>
            </a:r>
            <a:endParaRPr lang="en-US" sz="3200">
              <a:solidFill>
                <a:srgbClr val="ED145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4E2AC9DA-62F7-C4F3-54C5-7F4FE3B905FE}"/>
              </a:ext>
            </a:extLst>
          </p:cNvPr>
          <p:cNvSpPr txBox="1"/>
          <p:nvPr/>
        </p:nvSpPr>
        <p:spPr>
          <a:xfrm>
            <a:off x="9144000" y="3289874"/>
            <a:ext cx="3741997" cy="121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71"/>
              </a:lnSpc>
            </a:pPr>
            <a:r>
              <a:rPr lang="en-US" sz="32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Temáticas</a:t>
            </a:r>
            <a:endParaRPr lang="en-US" sz="3200">
              <a:solidFill>
                <a:srgbClr val="ED145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D5620-28B8-E2CF-EDDA-81F93478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958F21-5A82-54E0-6A19-CE83848630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451" y="1405090"/>
            <a:ext cx="17359796" cy="1086371"/>
          </a:xfrm>
        </p:spPr>
        <p:txBody>
          <a:bodyPr>
            <a:normAutofit/>
          </a:bodyPr>
          <a:lstStyle/>
          <a:p>
            <a:r>
              <a:rPr lang="en-US" sz="5400" err="1">
                <a:solidFill>
                  <a:schemeClr val="bg1"/>
                </a:solidFill>
                <a:latin typeface="League Spartan"/>
                <a:cs typeface="Arial"/>
              </a:rPr>
              <a:t>Tabelas</a:t>
            </a:r>
            <a:r>
              <a:rPr lang="en-US" sz="5400">
                <a:solidFill>
                  <a:schemeClr val="bg1"/>
                </a:solidFill>
                <a:latin typeface="League Spartan"/>
                <a:cs typeface="Arial"/>
              </a:rPr>
              <a:t> Fato</a:t>
            </a:r>
            <a:endParaRPr lang="en-US" sz="5400">
              <a:solidFill>
                <a:schemeClr val="bg1"/>
              </a:solidFill>
              <a:latin typeface="League Spartan"/>
            </a:endParaRPr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86A1E328-5106-195D-30FD-B3359719DC78}"/>
              </a:ext>
            </a:extLst>
          </p:cNvPr>
          <p:cNvSpPr/>
          <p:nvPr/>
        </p:nvSpPr>
        <p:spPr>
          <a:xfrm rot="21060000">
            <a:off x="11250161" y="7833922"/>
            <a:ext cx="6655277" cy="993387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28224" h="890619">
                <a:moveTo>
                  <a:pt x="0" y="516606"/>
                </a:moveTo>
                <a:lnTo>
                  <a:pt x="2031070" y="859867"/>
                </a:lnTo>
                <a:cubicBezTo>
                  <a:pt x="2397613" y="918840"/>
                  <a:pt x="2187777" y="875833"/>
                  <a:pt x="2199260" y="870442"/>
                </a:cubicBezTo>
                <a:lnTo>
                  <a:pt x="7028224" y="150534"/>
                </a:lnTo>
                <a:lnTo>
                  <a:pt x="4835116" y="0"/>
                </a:lnTo>
                <a:lnTo>
                  <a:pt x="0" y="516606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F25F5531-C308-1374-1291-3EE525913FD2}"/>
              </a:ext>
            </a:extLst>
          </p:cNvPr>
          <p:cNvGrpSpPr/>
          <p:nvPr/>
        </p:nvGrpSpPr>
        <p:grpSpPr>
          <a:xfrm>
            <a:off x="838200" y="501553"/>
            <a:ext cx="16230600" cy="519683"/>
            <a:chOff x="0" y="0"/>
            <a:chExt cx="21640800" cy="692911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AECD8E4C-28E0-CB4B-BDC6-939431325A37}"/>
                </a:ext>
              </a:extLst>
            </p:cNvPr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3C28037-2FC3-6FA6-F2D0-31D87610A367}"/>
                </a:ext>
              </a:extLst>
            </p:cNvPr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Espaço Reservado para Número de Slide 2">
            <a:extLst>
              <a:ext uri="{FF2B5EF4-FFF2-40B4-BE49-F238E27FC236}">
                <a16:creationId xmlns:a16="http://schemas.microsoft.com/office/drawing/2014/main" id="{B1420C14-0997-0E2C-55EA-8A15767CC5B7}"/>
              </a:ext>
            </a:extLst>
          </p:cNvPr>
          <p:cNvSpPr txBox="1">
            <a:spLocks/>
          </p:cNvSpPr>
          <p:nvPr/>
        </p:nvSpPr>
        <p:spPr>
          <a:xfrm>
            <a:off x="17188501" y="1084576"/>
            <a:ext cx="346746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200" smtClean="0">
                <a:solidFill>
                  <a:schemeClr val="bg1"/>
                </a:solidFill>
              </a:rPr>
              <a:pPr/>
              <a:t>8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35" name="Espaço Reservado para Rodapé 5">
            <a:extLst>
              <a:ext uri="{FF2B5EF4-FFF2-40B4-BE49-F238E27FC236}">
                <a16:creationId xmlns:a16="http://schemas.microsoft.com/office/drawing/2014/main" id="{A1266C5A-DB8F-BE29-527B-FD38B5D9FB28}"/>
              </a:ext>
            </a:extLst>
          </p:cNvPr>
          <p:cNvSpPr txBox="1">
            <a:spLocks/>
          </p:cNvSpPr>
          <p:nvPr/>
        </p:nvSpPr>
        <p:spPr>
          <a:xfrm>
            <a:off x="15226930" y="1084577"/>
            <a:ext cx="2700000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DB4116DD-BF4C-07BE-ECEF-47878C597657}"/>
              </a:ext>
            </a:extLst>
          </p:cNvPr>
          <p:cNvSpPr/>
          <p:nvPr/>
        </p:nvSpPr>
        <p:spPr>
          <a:xfrm>
            <a:off x="17070092" y="9675081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F13F072B-CFB9-713D-F7A3-1BFEA40D9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48" y="2192283"/>
            <a:ext cx="4125779" cy="7248848"/>
          </a:xfrm>
          <a:prstGeom prst="rect">
            <a:avLst/>
          </a:prstGeom>
        </p:spPr>
      </p:pic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C2344AEF-60E0-41D1-8007-3921A0839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993" y="3037829"/>
            <a:ext cx="4203270" cy="6419851"/>
          </a:xfrm>
          <a:prstGeom prst="rect">
            <a:avLst/>
          </a:prstGeom>
        </p:spPr>
      </p:pic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E4EE958B-429A-A5F7-ECB6-116A327A49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7992" y="5092728"/>
            <a:ext cx="4212795" cy="4363581"/>
          </a:xfrm>
          <a:prstGeom prst="rect">
            <a:avLst/>
          </a:prstGeom>
        </p:spPr>
      </p:pic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8B9B3FEF-0ECC-EEC5-CC6C-1D683A9BB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6332" y="4747405"/>
            <a:ext cx="4212311" cy="47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0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A5DF8-A4D8-8E60-16F3-F77FF62A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D360-FF58-6BE9-0EE5-2836EC0F4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451" y="1405090"/>
            <a:ext cx="17359796" cy="1086371"/>
          </a:xfrm>
        </p:spPr>
        <p:txBody>
          <a:bodyPr>
            <a:normAutofit/>
          </a:bodyPr>
          <a:lstStyle/>
          <a:p>
            <a:r>
              <a:rPr lang="en-US" sz="5400" err="1">
                <a:solidFill>
                  <a:schemeClr val="bg1"/>
                </a:solidFill>
                <a:latin typeface="League Spartan"/>
                <a:cs typeface="Arial"/>
              </a:rPr>
              <a:t>Tabelas</a:t>
            </a:r>
            <a:r>
              <a:rPr lang="en-US" sz="5400">
                <a:solidFill>
                  <a:schemeClr val="bg1"/>
                </a:solidFill>
                <a:latin typeface="League Spartan"/>
                <a:cs typeface="Arial"/>
              </a:rPr>
              <a:t> </a:t>
            </a:r>
            <a:r>
              <a:rPr lang="en-US" sz="5400" err="1">
                <a:solidFill>
                  <a:schemeClr val="bg1"/>
                </a:solidFill>
                <a:latin typeface="League Spartan"/>
                <a:cs typeface="Arial"/>
              </a:rPr>
              <a:t>Dimensão</a:t>
            </a:r>
            <a:endParaRPr lang="pt-BR" err="1">
              <a:solidFill>
                <a:schemeClr val="bg1"/>
              </a:solidFill>
            </a:endParaRPr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D9F01B44-A181-1CEF-4132-619A19B3A6A2}"/>
              </a:ext>
            </a:extLst>
          </p:cNvPr>
          <p:cNvSpPr/>
          <p:nvPr/>
        </p:nvSpPr>
        <p:spPr>
          <a:xfrm rot="21060000">
            <a:off x="11250161" y="7833922"/>
            <a:ext cx="6655277" cy="993387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28224" h="890619">
                <a:moveTo>
                  <a:pt x="0" y="516606"/>
                </a:moveTo>
                <a:lnTo>
                  <a:pt x="2031070" y="859867"/>
                </a:lnTo>
                <a:cubicBezTo>
                  <a:pt x="2397613" y="918840"/>
                  <a:pt x="2187777" y="875833"/>
                  <a:pt x="2199260" y="870442"/>
                </a:cubicBezTo>
                <a:lnTo>
                  <a:pt x="7028224" y="150534"/>
                </a:lnTo>
                <a:lnTo>
                  <a:pt x="4835116" y="0"/>
                </a:lnTo>
                <a:lnTo>
                  <a:pt x="0" y="516606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50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EB174ADD-F4A6-761A-BFC0-3CBCBE28F39C}"/>
              </a:ext>
            </a:extLst>
          </p:cNvPr>
          <p:cNvGrpSpPr/>
          <p:nvPr/>
        </p:nvGrpSpPr>
        <p:grpSpPr>
          <a:xfrm>
            <a:off x="838200" y="501553"/>
            <a:ext cx="16230600" cy="519683"/>
            <a:chOff x="0" y="0"/>
            <a:chExt cx="21640800" cy="692911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3BA5B907-105D-38F1-501C-D8C3B0F63A58}"/>
                </a:ext>
              </a:extLst>
            </p:cNvPr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4AFA2C79-3569-78EE-D709-E4676EE615AA}"/>
                </a:ext>
              </a:extLst>
            </p:cNvPr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4" name="Espaço Reservado para Número de Slide 2">
            <a:extLst>
              <a:ext uri="{FF2B5EF4-FFF2-40B4-BE49-F238E27FC236}">
                <a16:creationId xmlns:a16="http://schemas.microsoft.com/office/drawing/2014/main" id="{A7E2DF19-C549-4EB1-A9F9-7BD430F43D33}"/>
              </a:ext>
            </a:extLst>
          </p:cNvPr>
          <p:cNvSpPr txBox="1">
            <a:spLocks/>
          </p:cNvSpPr>
          <p:nvPr/>
        </p:nvSpPr>
        <p:spPr>
          <a:xfrm>
            <a:off x="17188501" y="1084576"/>
            <a:ext cx="346746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200" smtClean="0">
                <a:solidFill>
                  <a:schemeClr val="bg1"/>
                </a:solidFill>
              </a:rPr>
              <a:pPr/>
              <a:t>9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35" name="Espaço Reservado para Rodapé 5">
            <a:extLst>
              <a:ext uri="{FF2B5EF4-FFF2-40B4-BE49-F238E27FC236}">
                <a16:creationId xmlns:a16="http://schemas.microsoft.com/office/drawing/2014/main" id="{B680835C-30C2-675C-6E41-AA2532DB098E}"/>
              </a:ext>
            </a:extLst>
          </p:cNvPr>
          <p:cNvSpPr txBox="1">
            <a:spLocks/>
          </p:cNvSpPr>
          <p:nvPr/>
        </p:nvSpPr>
        <p:spPr>
          <a:xfrm>
            <a:off x="15226930" y="1084577"/>
            <a:ext cx="2700000" cy="18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31" name="Freeform 8">
            <a:extLst>
              <a:ext uri="{FF2B5EF4-FFF2-40B4-BE49-F238E27FC236}">
                <a16:creationId xmlns:a16="http://schemas.microsoft.com/office/drawing/2014/main" id="{B09D72A2-7970-1F80-A8FC-0994F4D63966}"/>
              </a:ext>
            </a:extLst>
          </p:cNvPr>
          <p:cNvSpPr/>
          <p:nvPr/>
        </p:nvSpPr>
        <p:spPr>
          <a:xfrm>
            <a:off x="16992600" y="94522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D312DC26-0BF5-6F7B-F5C2-68243B5E4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072" y="3453297"/>
            <a:ext cx="5615069" cy="471713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B3F0639-7B27-E1CA-3A62-C194C01546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717" y="3966597"/>
            <a:ext cx="4287381" cy="1830738"/>
          </a:xfrm>
          <a:prstGeom prst="rect">
            <a:avLst/>
          </a:prstGeom>
        </p:spPr>
      </p:pic>
      <p:pic>
        <p:nvPicPr>
          <p:cNvPr id="6" name="Imagem 5" descr="Retângulo&#10;&#10;O conteúdo gerado por IA pode estar incorreto.">
            <a:extLst>
              <a:ext uri="{FF2B5EF4-FFF2-40B4-BE49-F238E27FC236}">
                <a16:creationId xmlns:a16="http://schemas.microsoft.com/office/drawing/2014/main" id="{C148137E-88AA-270E-0DC5-04F4FF6F4E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7941" y="6419447"/>
            <a:ext cx="4290932" cy="1177388"/>
          </a:xfrm>
          <a:prstGeom prst="rect">
            <a:avLst/>
          </a:prstGeom>
        </p:spPr>
      </p:pic>
      <p:pic>
        <p:nvPicPr>
          <p:cNvPr id="9" name="Imagem 8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B09041A0-502A-CE72-1B56-2BCE585220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96340" y="4608082"/>
            <a:ext cx="5976051" cy="24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9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54062"/>
            <a:ext cx="16230600" cy="293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6"/>
              </a:lnSpc>
            </a:pPr>
            <a:r>
              <a:rPr lang="en-US" sz="880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Fluxo</a:t>
            </a:r>
            <a:r>
              <a:rPr lang="en-US" sz="8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880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Transformação</a:t>
            </a:r>
            <a:endParaRPr lang="en-US" sz="8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>
              <a:lnSpc>
                <a:spcPts val="11336"/>
              </a:lnSpc>
            </a:pPr>
            <a:endParaRPr lang="en-US" sz="104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62000" y="3086100"/>
            <a:ext cx="16230600" cy="1111472"/>
            <a:chOff x="0" y="0"/>
            <a:chExt cx="21640800" cy="148196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1640800" cy="1481963"/>
              <a:chOff x="0" y="0"/>
              <a:chExt cx="4274726" cy="29273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74726" cy="292733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92733">
                    <a:moveTo>
                      <a:pt x="10017" y="0"/>
                    </a:moveTo>
                    <a:lnTo>
                      <a:pt x="4264709" y="0"/>
                    </a:lnTo>
                    <a:cubicBezTo>
                      <a:pt x="4267365" y="0"/>
                      <a:pt x="4269913" y="1055"/>
                      <a:pt x="4271792" y="2934"/>
                    </a:cubicBezTo>
                    <a:cubicBezTo>
                      <a:pt x="4273671" y="4812"/>
                      <a:pt x="4274726" y="7360"/>
                      <a:pt x="4274726" y="10017"/>
                    </a:cubicBezTo>
                    <a:lnTo>
                      <a:pt x="4274726" y="282716"/>
                    </a:lnTo>
                    <a:cubicBezTo>
                      <a:pt x="4274726" y="285373"/>
                      <a:pt x="4273671" y="287921"/>
                      <a:pt x="4271792" y="289799"/>
                    </a:cubicBezTo>
                    <a:cubicBezTo>
                      <a:pt x="4269913" y="291678"/>
                      <a:pt x="4267365" y="292733"/>
                      <a:pt x="4264709" y="292733"/>
                    </a:cubicBezTo>
                    <a:lnTo>
                      <a:pt x="10017" y="292733"/>
                    </a:lnTo>
                    <a:cubicBezTo>
                      <a:pt x="7360" y="292733"/>
                      <a:pt x="4812" y="291678"/>
                      <a:pt x="2934" y="289799"/>
                    </a:cubicBezTo>
                    <a:cubicBezTo>
                      <a:pt x="1055" y="287921"/>
                      <a:pt x="0" y="285373"/>
                      <a:pt x="0" y="282716"/>
                    </a:cubicBezTo>
                    <a:lnTo>
                      <a:pt x="0" y="10017"/>
                    </a:lnTo>
                    <a:cubicBezTo>
                      <a:pt x="0" y="7360"/>
                      <a:pt x="1055" y="4812"/>
                      <a:pt x="2934" y="2934"/>
                    </a:cubicBezTo>
                    <a:cubicBezTo>
                      <a:pt x="4812" y="1055"/>
                      <a:pt x="7360" y="0"/>
                      <a:pt x="10017" y="0"/>
                    </a:cubicBezTo>
                    <a:close/>
                  </a:path>
                </a:pathLst>
              </a:custGeom>
              <a:solidFill>
                <a:srgbClr val="646262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4274726" cy="330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01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03201" y="411757"/>
              <a:ext cx="7979384" cy="610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763"/>
                </a:lnSpc>
              </a:pPr>
              <a:r>
                <a:rPr lang="en-US" sz="24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Ingestão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42883" y="449263"/>
              <a:ext cx="10487445" cy="4540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pt-BR" sz="2000">
                  <a:solidFill>
                    <a:srgbClr val="FFFFFF"/>
                  </a:solidFill>
                  <a:latin typeface="Eastman Grotesque"/>
                </a:rPr>
                <a:t>Lê o CSV com </a:t>
              </a:r>
              <a:r>
                <a:rPr lang="pt-BR" sz="2000" err="1">
                  <a:solidFill>
                    <a:srgbClr val="FFFFFF"/>
                  </a:solidFill>
                  <a:latin typeface="Eastman Grotesque"/>
                </a:rPr>
                <a:t>encoding</a:t>
              </a:r>
              <a:r>
                <a:rPr lang="pt-BR" sz="2000">
                  <a:solidFill>
                    <a:srgbClr val="FFFFFF"/>
                  </a:solidFill>
                  <a:latin typeface="Eastman Grotesque"/>
                </a:rPr>
                <a:t> latin1 e separador ,; adiciona coluna MES_REF</a:t>
              </a:r>
              <a:endParaRPr lang="en-US" sz="2000">
                <a:solidFill>
                  <a:srgbClr val="FFFFFF"/>
                </a:solidFill>
                <a:latin typeface="Eastman Grotesque"/>
                <a:sym typeface="Eastman Grotesque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4274057"/>
            <a:ext cx="16230600" cy="1111686"/>
            <a:chOff x="0" y="0"/>
            <a:chExt cx="4274726" cy="2927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292790"/>
            </a:xfrm>
            <a:custGeom>
              <a:avLst/>
              <a:gdLst/>
              <a:ahLst/>
              <a:cxnLst/>
              <a:rect l="l" t="t" r="r" b="b"/>
              <a:pathLst>
                <a:path w="4274726" h="292790">
                  <a:moveTo>
                    <a:pt x="10017" y="0"/>
                  </a:moveTo>
                  <a:lnTo>
                    <a:pt x="4264709" y="0"/>
                  </a:lnTo>
                  <a:cubicBezTo>
                    <a:pt x="4267365" y="0"/>
                    <a:pt x="4269913" y="1055"/>
                    <a:pt x="4271792" y="2934"/>
                  </a:cubicBezTo>
                  <a:cubicBezTo>
                    <a:pt x="4273671" y="4812"/>
                    <a:pt x="4274726" y="7360"/>
                    <a:pt x="4274726" y="10017"/>
                  </a:cubicBezTo>
                  <a:lnTo>
                    <a:pt x="4274726" y="282773"/>
                  </a:lnTo>
                  <a:cubicBezTo>
                    <a:pt x="4274726" y="285429"/>
                    <a:pt x="4273671" y="287977"/>
                    <a:pt x="4271792" y="289856"/>
                  </a:cubicBezTo>
                  <a:cubicBezTo>
                    <a:pt x="4269913" y="291734"/>
                    <a:pt x="4267365" y="292790"/>
                    <a:pt x="4264709" y="292790"/>
                  </a:cubicBezTo>
                  <a:lnTo>
                    <a:pt x="10017" y="292790"/>
                  </a:lnTo>
                  <a:cubicBezTo>
                    <a:pt x="7360" y="292790"/>
                    <a:pt x="4812" y="291734"/>
                    <a:pt x="2934" y="289856"/>
                  </a:cubicBezTo>
                  <a:cubicBezTo>
                    <a:pt x="1055" y="287977"/>
                    <a:pt x="0" y="285429"/>
                    <a:pt x="0" y="282773"/>
                  </a:cubicBezTo>
                  <a:lnTo>
                    <a:pt x="0" y="10017"/>
                  </a:lnTo>
                  <a:cubicBezTo>
                    <a:pt x="0" y="7360"/>
                    <a:pt x="1055" y="4812"/>
                    <a:pt x="2934" y="2934"/>
                  </a:cubicBezTo>
                  <a:cubicBezTo>
                    <a:pt x="4812" y="1055"/>
                    <a:pt x="7360" y="0"/>
                    <a:pt x="10017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274726" cy="330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83063" y="4597733"/>
            <a:ext cx="4765337" cy="457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240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Renomeação</a:t>
            </a:r>
            <a:endParaRPr lang="en-US" sz="24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19163" y="4408868"/>
            <a:ext cx="7865583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Troca todos os códigos IBGE (C003, B0011…) pelos nomes semânticos do dicionário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914400" y="437524"/>
            <a:ext cx="3817938" cy="472470"/>
          </a:xfrm>
          <a:custGeom>
            <a:avLst/>
            <a:gdLst/>
            <a:ahLst/>
            <a:cxnLst/>
            <a:rect l="l" t="t" r="r" b="b"/>
            <a:pathLst>
              <a:path w="3817938" h="472470">
                <a:moveTo>
                  <a:pt x="0" y="0"/>
                </a:moveTo>
                <a:lnTo>
                  <a:pt x="3817938" y="0"/>
                </a:lnTo>
                <a:lnTo>
                  <a:pt x="3817938" y="472470"/>
                </a:lnTo>
                <a:lnTo>
                  <a:pt x="0" y="472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757457" y="5432798"/>
            <a:ext cx="16230600" cy="1111686"/>
            <a:chOff x="0" y="0"/>
            <a:chExt cx="4274726" cy="2927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74726" cy="292790"/>
            </a:xfrm>
            <a:custGeom>
              <a:avLst/>
              <a:gdLst/>
              <a:ahLst/>
              <a:cxnLst/>
              <a:rect l="l" t="t" r="r" b="b"/>
              <a:pathLst>
                <a:path w="4274726" h="292790">
                  <a:moveTo>
                    <a:pt x="10017" y="0"/>
                  </a:moveTo>
                  <a:lnTo>
                    <a:pt x="4264709" y="0"/>
                  </a:lnTo>
                  <a:cubicBezTo>
                    <a:pt x="4267365" y="0"/>
                    <a:pt x="4269913" y="1055"/>
                    <a:pt x="4271792" y="2934"/>
                  </a:cubicBezTo>
                  <a:cubicBezTo>
                    <a:pt x="4273671" y="4812"/>
                    <a:pt x="4274726" y="7360"/>
                    <a:pt x="4274726" y="10017"/>
                  </a:cubicBezTo>
                  <a:lnTo>
                    <a:pt x="4274726" y="282773"/>
                  </a:lnTo>
                  <a:cubicBezTo>
                    <a:pt x="4274726" y="285429"/>
                    <a:pt x="4273671" y="287977"/>
                    <a:pt x="4271792" y="289856"/>
                  </a:cubicBezTo>
                  <a:cubicBezTo>
                    <a:pt x="4269913" y="291734"/>
                    <a:pt x="4267365" y="292790"/>
                    <a:pt x="4264709" y="292790"/>
                  </a:cubicBezTo>
                  <a:lnTo>
                    <a:pt x="10017" y="292790"/>
                  </a:lnTo>
                  <a:cubicBezTo>
                    <a:pt x="7360" y="292790"/>
                    <a:pt x="4812" y="291734"/>
                    <a:pt x="2934" y="289856"/>
                  </a:cubicBezTo>
                  <a:cubicBezTo>
                    <a:pt x="1055" y="287977"/>
                    <a:pt x="0" y="285429"/>
                    <a:pt x="0" y="282773"/>
                  </a:cubicBezTo>
                  <a:lnTo>
                    <a:pt x="0" y="10017"/>
                  </a:lnTo>
                  <a:cubicBezTo>
                    <a:pt x="0" y="7360"/>
                    <a:pt x="1055" y="4812"/>
                    <a:pt x="2934" y="2934"/>
                  </a:cubicBezTo>
                  <a:cubicBezTo>
                    <a:pt x="4812" y="1055"/>
                    <a:pt x="7360" y="0"/>
                    <a:pt x="10017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274726" cy="330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68213" y="5756474"/>
            <a:ext cx="5595035" cy="45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240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Tipagem</a:t>
            </a:r>
            <a:endParaRPr lang="en-US" sz="24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534401" y="5648569"/>
            <a:ext cx="7865583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Converte colunas para </a:t>
            </a:r>
            <a:r>
              <a:rPr lang="pt-BR" sz="2000" err="1">
                <a:solidFill>
                  <a:srgbClr val="FFFFFF"/>
                </a:solidFill>
                <a:latin typeface="Eastman Grotesque"/>
              </a:rPr>
              <a:t>integer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 ou </a:t>
            </a:r>
            <a:r>
              <a:rPr lang="pt-BR" sz="2000" err="1">
                <a:solidFill>
                  <a:srgbClr val="FFFFFF"/>
                </a:solidFill>
                <a:latin typeface="Eastman Grotesque"/>
              </a:rPr>
              <a:t>double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 conforme o dicionário (sem inferência automática)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762000" y="6560467"/>
            <a:ext cx="16230600" cy="1111686"/>
            <a:chOff x="0" y="0"/>
            <a:chExt cx="4274726" cy="2927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74726" cy="292790"/>
            </a:xfrm>
            <a:custGeom>
              <a:avLst/>
              <a:gdLst/>
              <a:ahLst/>
              <a:cxnLst/>
              <a:rect l="l" t="t" r="r" b="b"/>
              <a:pathLst>
                <a:path w="4274726" h="292790">
                  <a:moveTo>
                    <a:pt x="10017" y="0"/>
                  </a:moveTo>
                  <a:lnTo>
                    <a:pt x="4264709" y="0"/>
                  </a:lnTo>
                  <a:cubicBezTo>
                    <a:pt x="4267365" y="0"/>
                    <a:pt x="4269913" y="1055"/>
                    <a:pt x="4271792" y="2934"/>
                  </a:cubicBezTo>
                  <a:cubicBezTo>
                    <a:pt x="4273671" y="4812"/>
                    <a:pt x="4274726" y="7360"/>
                    <a:pt x="4274726" y="10017"/>
                  </a:cubicBezTo>
                  <a:lnTo>
                    <a:pt x="4274726" y="282773"/>
                  </a:lnTo>
                  <a:cubicBezTo>
                    <a:pt x="4274726" y="285429"/>
                    <a:pt x="4273671" y="287977"/>
                    <a:pt x="4271792" y="289856"/>
                  </a:cubicBezTo>
                  <a:cubicBezTo>
                    <a:pt x="4269913" y="291734"/>
                    <a:pt x="4267365" y="292790"/>
                    <a:pt x="4264709" y="292790"/>
                  </a:cubicBezTo>
                  <a:lnTo>
                    <a:pt x="10017" y="292790"/>
                  </a:lnTo>
                  <a:cubicBezTo>
                    <a:pt x="7360" y="292790"/>
                    <a:pt x="4812" y="291734"/>
                    <a:pt x="2934" y="289856"/>
                  </a:cubicBezTo>
                  <a:cubicBezTo>
                    <a:pt x="1055" y="287977"/>
                    <a:pt x="0" y="285429"/>
                    <a:pt x="0" y="282773"/>
                  </a:cubicBezTo>
                  <a:lnTo>
                    <a:pt x="0" y="10017"/>
                  </a:lnTo>
                  <a:cubicBezTo>
                    <a:pt x="0" y="7360"/>
                    <a:pt x="1055" y="4812"/>
                    <a:pt x="2934" y="2934"/>
                  </a:cubicBezTo>
                  <a:cubicBezTo>
                    <a:pt x="4812" y="1055"/>
                    <a:pt x="7360" y="0"/>
                    <a:pt x="10017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274726" cy="330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124200" y="6838900"/>
            <a:ext cx="5595035" cy="45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240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Tradução</a:t>
            </a:r>
            <a:endParaRPr lang="en-US" sz="24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505825" y="6728305"/>
            <a:ext cx="7922733" cy="696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buNone/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Substitui valores numéricos categóricos pelos rótulos do dicionário via </a:t>
            </a:r>
            <a:r>
              <a:rPr lang="pt-BR" sz="2000" err="1">
                <a:solidFill>
                  <a:srgbClr val="FFFFFF"/>
                </a:solidFill>
                <a:latin typeface="Eastman Grotesque"/>
              </a:rPr>
              <a:t>F.create_map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()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227121" y="437524"/>
            <a:ext cx="1917879" cy="519683"/>
          </a:xfrm>
          <a:custGeom>
            <a:avLst/>
            <a:gdLst/>
            <a:ahLst/>
            <a:cxnLst/>
            <a:rect l="l" t="t" r="r" b="b"/>
            <a:pathLst>
              <a:path w="1917879" h="519683">
                <a:moveTo>
                  <a:pt x="0" y="0"/>
                </a:moveTo>
                <a:lnTo>
                  <a:pt x="1917879" y="0"/>
                </a:lnTo>
                <a:lnTo>
                  <a:pt x="1917879" y="519683"/>
                </a:lnTo>
                <a:lnTo>
                  <a:pt x="0" y="519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">
            <a:extLst>
              <a:ext uri="{FF2B5EF4-FFF2-40B4-BE49-F238E27FC236}">
                <a16:creationId xmlns:a16="http://schemas.microsoft.com/office/drawing/2014/main" id="{3954098E-FC20-0A70-F1AC-F74FBD69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84837" y="1000314"/>
            <a:ext cx="346746" cy="184667"/>
          </a:xfrm>
        </p:spPr>
        <p:txBody>
          <a:bodyPr/>
          <a:lstStyle/>
          <a:p>
            <a:fld id="{0D5187E7-9586-4671-89A0-1B2700A8A8C1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28" name="Espaço Reservado para Rodapé 5">
            <a:extLst>
              <a:ext uri="{FF2B5EF4-FFF2-40B4-BE49-F238E27FC236}">
                <a16:creationId xmlns:a16="http://schemas.microsoft.com/office/drawing/2014/main" id="{73F52900-08EE-4574-7A15-EA6449F0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44700" y="1000314"/>
            <a:ext cx="2700000" cy="184667"/>
          </a:xfrm>
        </p:spPr>
        <p:txBody>
          <a:bodyPr/>
          <a:lstStyle/>
          <a:p>
            <a:r>
              <a:rPr lang="pt-BR"/>
              <a:t>Tech Challenger | Fase 02</a:t>
            </a:r>
          </a:p>
        </p:txBody>
      </p:sp>
      <p:grpSp>
        <p:nvGrpSpPr>
          <p:cNvPr id="34" name="Group 21">
            <a:extLst>
              <a:ext uri="{FF2B5EF4-FFF2-40B4-BE49-F238E27FC236}">
                <a16:creationId xmlns:a16="http://schemas.microsoft.com/office/drawing/2014/main" id="{48923D24-B3FD-08D9-45D3-43C9EA14F9C6}"/>
              </a:ext>
            </a:extLst>
          </p:cNvPr>
          <p:cNvGrpSpPr/>
          <p:nvPr/>
        </p:nvGrpSpPr>
        <p:grpSpPr>
          <a:xfrm>
            <a:off x="762000" y="7739775"/>
            <a:ext cx="16230600" cy="1111686"/>
            <a:chOff x="0" y="0"/>
            <a:chExt cx="4274726" cy="292790"/>
          </a:xfrm>
        </p:grpSpPr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DB88B338-8607-ECC7-D660-76E8FA8ADA8F}"/>
                </a:ext>
              </a:extLst>
            </p:cNvPr>
            <p:cNvSpPr/>
            <p:nvPr/>
          </p:nvSpPr>
          <p:spPr>
            <a:xfrm>
              <a:off x="0" y="0"/>
              <a:ext cx="4274726" cy="292790"/>
            </a:xfrm>
            <a:custGeom>
              <a:avLst/>
              <a:gdLst/>
              <a:ahLst/>
              <a:cxnLst/>
              <a:rect l="l" t="t" r="r" b="b"/>
              <a:pathLst>
                <a:path w="4274726" h="292790">
                  <a:moveTo>
                    <a:pt x="10017" y="0"/>
                  </a:moveTo>
                  <a:lnTo>
                    <a:pt x="4264709" y="0"/>
                  </a:lnTo>
                  <a:cubicBezTo>
                    <a:pt x="4267365" y="0"/>
                    <a:pt x="4269913" y="1055"/>
                    <a:pt x="4271792" y="2934"/>
                  </a:cubicBezTo>
                  <a:cubicBezTo>
                    <a:pt x="4273671" y="4812"/>
                    <a:pt x="4274726" y="7360"/>
                    <a:pt x="4274726" y="10017"/>
                  </a:cubicBezTo>
                  <a:lnTo>
                    <a:pt x="4274726" y="282773"/>
                  </a:lnTo>
                  <a:cubicBezTo>
                    <a:pt x="4274726" y="285429"/>
                    <a:pt x="4273671" y="287977"/>
                    <a:pt x="4271792" y="289856"/>
                  </a:cubicBezTo>
                  <a:cubicBezTo>
                    <a:pt x="4269913" y="291734"/>
                    <a:pt x="4267365" y="292790"/>
                    <a:pt x="4264709" y="292790"/>
                  </a:cubicBezTo>
                  <a:lnTo>
                    <a:pt x="10017" y="292790"/>
                  </a:lnTo>
                  <a:cubicBezTo>
                    <a:pt x="7360" y="292790"/>
                    <a:pt x="4812" y="291734"/>
                    <a:pt x="2934" y="289856"/>
                  </a:cubicBezTo>
                  <a:cubicBezTo>
                    <a:pt x="1055" y="287977"/>
                    <a:pt x="0" y="285429"/>
                    <a:pt x="0" y="282773"/>
                  </a:cubicBezTo>
                  <a:lnTo>
                    <a:pt x="0" y="10017"/>
                  </a:lnTo>
                  <a:cubicBezTo>
                    <a:pt x="0" y="7360"/>
                    <a:pt x="1055" y="4812"/>
                    <a:pt x="2934" y="2934"/>
                  </a:cubicBezTo>
                  <a:cubicBezTo>
                    <a:pt x="4812" y="1055"/>
                    <a:pt x="7360" y="0"/>
                    <a:pt x="10017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Box 23">
              <a:extLst>
                <a:ext uri="{FF2B5EF4-FFF2-40B4-BE49-F238E27FC236}">
                  <a16:creationId xmlns:a16="http://schemas.microsoft.com/office/drawing/2014/main" id="{F5B228A9-8A4B-68A8-B2FC-29BBAFFF4104}"/>
                </a:ext>
              </a:extLst>
            </p:cNvPr>
            <p:cNvSpPr txBox="1"/>
            <p:nvPr/>
          </p:nvSpPr>
          <p:spPr>
            <a:xfrm>
              <a:off x="0" y="-38100"/>
              <a:ext cx="4274726" cy="330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22296DF-2A8A-48B3-3790-2870CEE04B27}"/>
              </a:ext>
            </a:extLst>
          </p:cNvPr>
          <p:cNvSpPr txBox="1"/>
          <p:nvPr/>
        </p:nvSpPr>
        <p:spPr>
          <a:xfrm>
            <a:off x="3006246" y="8020542"/>
            <a:ext cx="3742302" cy="55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63"/>
              </a:lnSpc>
            </a:pPr>
            <a:r>
              <a:rPr lang="en-US" sz="240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Derivação</a:t>
            </a:r>
            <a:endParaRPr lang="en-US" sz="240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39" name="Group 21">
            <a:extLst>
              <a:ext uri="{FF2B5EF4-FFF2-40B4-BE49-F238E27FC236}">
                <a16:creationId xmlns:a16="http://schemas.microsoft.com/office/drawing/2014/main" id="{65C8B3A5-3E15-2521-B6EA-D1BD2E38702C}"/>
              </a:ext>
            </a:extLst>
          </p:cNvPr>
          <p:cNvGrpSpPr/>
          <p:nvPr/>
        </p:nvGrpSpPr>
        <p:grpSpPr>
          <a:xfrm>
            <a:off x="762000" y="8919083"/>
            <a:ext cx="16230600" cy="1111686"/>
            <a:chOff x="0" y="0"/>
            <a:chExt cx="4274726" cy="292790"/>
          </a:xfrm>
        </p:grpSpPr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16F1E1D-7DD3-6B29-3FCF-0CD407FCF953}"/>
                </a:ext>
              </a:extLst>
            </p:cNvPr>
            <p:cNvSpPr/>
            <p:nvPr/>
          </p:nvSpPr>
          <p:spPr>
            <a:xfrm>
              <a:off x="0" y="0"/>
              <a:ext cx="4274726" cy="292790"/>
            </a:xfrm>
            <a:custGeom>
              <a:avLst/>
              <a:gdLst/>
              <a:ahLst/>
              <a:cxnLst/>
              <a:rect l="l" t="t" r="r" b="b"/>
              <a:pathLst>
                <a:path w="4274726" h="292790">
                  <a:moveTo>
                    <a:pt x="10017" y="0"/>
                  </a:moveTo>
                  <a:lnTo>
                    <a:pt x="4264709" y="0"/>
                  </a:lnTo>
                  <a:cubicBezTo>
                    <a:pt x="4267365" y="0"/>
                    <a:pt x="4269913" y="1055"/>
                    <a:pt x="4271792" y="2934"/>
                  </a:cubicBezTo>
                  <a:cubicBezTo>
                    <a:pt x="4273671" y="4812"/>
                    <a:pt x="4274726" y="7360"/>
                    <a:pt x="4274726" y="10017"/>
                  </a:cubicBezTo>
                  <a:lnTo>
                    <a:pt x="4274726" y="282773"/>
                  </a:lnTo>
                  <a:cubicBezTo>
                    <a:pt x="4274726" y="285429"/>
                    <a:pt x="4273671" y="287977"/>
                    <a:pt x="4271792" y="289856"/>
                  </a:cubicBezTo>
                  <a:cubicBezTo>
                    <a:pt x="4269913" y="291734"/>
                    <a:pt x="4267365" y="292790"/>
                    <a:pt x="4264709" y="292790"/>
                  </a:cubicBezTo>
                  <a:lnTo>
                    <a:pt x="10017" y="292790"/>
                  </a:lnTo>
                  <a:cubicBezTo>
                    <a:pt x="7360" y="292790"/>
                    <a:pt x="4812" y="291734"/>
                    <a:pt x="2934" y="289856"/>
                  </a:cubicBezTo>
                  <a:cubicBezTo>
                    <a:pt x="1055" y="287977"/>
                    <a:pt x="0" y="285429"/>
                    <a:pt x="0" y="282773"/>
                  </a:cubicBezTo>
                  <a:lnTo>
                    <a:pt x="0" y="10017"/>
                  </a:lnTo>
                  <a:cubicBezTo>
                    <a:pt x="0" y="7360"/>
                    <a:pt x="1055" y="4812"/>
                    <a:pt x="2934" y="2934"/>
                  </a:cubicBezTo>
                  <a:cubicBezTo>
                    <a:pt x="4812" y="1055"/>
                    <a:pt x="7360" y="0"/>
                    <a:pt x="10017" y="0"/>
                  </a:cubicBezTo>
                  <a:close/>
                </a:path>
              </a:pathLst>
            </a:custGeom>
            <a:solidFill>
              <a:srgbClr val="64626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Box 23">
              <a:extLst>
                <a:ext uri="{FF2B5EF4-FFF2-40B4-BE49-F238E27FC236}">
                  <a16:creationId xmlns:a16="http://schemas.microsoft.com/office/drawing/2014/main" id="{35E2B15D-3904-8D1D-FFF4-658BBCE664EB}"/>
                </a:ext>
              </a:extLst>
            </p:cNvPr>
            <p:cNvSpPr txBox="1"/>
            <p:nvPr/>
          </p:nvSpPr>
          <p:spPr>
            <a:xfrm>
              <a:off x="0" y="-38100"/>
              <a:ext cx="4274726" cy="330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01"/>
                </a:lnSpc>
              </a:pPr>
              <a:endParaRPr/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EA54001-CD6A-0050-5A24-7EAA2284518C}"/>
              </a:ext>
            </a:extLst>
          </p:cNvPr>
          <p:cNvSpPr txBox="1"/>
          <p:nvPr/>
        </p:nvSpPr>
        <p:spPr>
          <a:xfrm>
            <a:off x="2922642" y="9174259"/>
            <a:ext cx="3742302" cy="55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63"/>
              </a:lnSpc>
            </a:pPr>
            <a:r>
              <a:rPr lang="pt-BR" sz="2400">
                <a:solidFill>
                  <a:srgbClr val="FFFFFF"/>
                </a:solidFill>
                <a:latin typeface="League Spartan"/>
                <a:sym typeface="League Spartan"/>
              </a:rPr>
              <a:t>Persistência</a:t>
            </a:r>
            <a:endParaRPr lang="en-US" sz="2400">
              <a:solidFill>
                <a:srgbClr val="FFFFFF"/>
              </a:solidFill>
              <a:latin typeface="League Spartan"/>
              <a:sym typeface="League Spartan"/>
            </a:endParaRP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D82A57E9-72DE-BFF8-7279-3949775FB279}"/>
              </a:ext>
            </a:extLst>
          </p:cNvPr>
          <p:cNvSpPr txBox="1"/>
          <p:nvPr/>
        </p:nvSpPr>
        <p:spPr>
          <a:xfrm>
            <a:off x="8490587" y="7907291"/>
            <a:ext cx="7922733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Cria indicadores calculados (</a:t>
            </a:r>
            <a:r>
              <a:rPr lang="pt-BR" sz="2000" err="1">
                <a:solidFill>
                  <a:srgbClr val="FFFFFF"/>
                </a:solidFill>
                <a:latin typeface="Eastman Grotesque"/>
              </a:rPr>
              <a:t>ind_teve_sintoma_gripal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, </a:t>
            </a:r>
          </a:p>
          <a:p>
            <a:pPr algn="just">
              <a:lnSpc>
                <a:spcPts val="2800"/>
              </a:lnSpc>
            </a:pPr>
            <a:r>
              <a:rPr lang="pt-BR" sz="2000" err="1">
                <a:solidFill>
                  <a:srgbClr val="FFFFFF"/>
                </a:solidFill>
                <a:latin typeface="Eastman Grotesque"/>
              </a:rPr>
              <a:t>situacao_mercado_trabalho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, etc.).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4DFF8495-C8A3-AEDB-4395-AA4546060E83}"/>
              </a:ext>
            </a:extLst>
          </p:cNvPr>
          <p:cNvSpPr txBox="1"/>
          <p:nvPr/>
        </p:nvSpPr>
        <p:spPr>
          <a:xfrm>
            <a:off x="8534401" y="9125535"/>
            <a:ext cx="8305799" cy="698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Grava Parquet particionado por MES_REF; cada execução sobrescreve só o mês processado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37318A18-3E1B-8A0A-C944-30997A48C274}"/>
              </a:ext>
            </a:extLst>
          </p:cNvPr>
          <p:cNvSpPr/>
          <p:nvPr/>
        </p:nvSpPr>
        <p:spPr>
          <a:xfrm>
            <a:off x="17361902" y="9449335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37728"/>
            <a:ext cx="66675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600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Chave de </a:t>
            </a:r>
          </a:p>
          <a:p>
            <a:pPr algn="l"/>
            <a:r>
              <a:rPr lang="en-US" sz="6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Identificação</a:t>
            </a:r>
            <a:endParaRPr lang="en-US" sz="6600">
              <a:solidFill>
                <a:srgbClr val="ED145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7200" y="5127024"/>
            <a:ext cx="6966703" cy="69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Todas as bases compartilham a mesma chave de 4 colunas que identifica univocamente uma pessoa em um mês: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37816" y="4295864"/>
            <a:ext cx="5403606" cy="213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A PNAD é uma amostra complexa. Nunca calcule percentuais ou médias sem ponderar pelo </a:t>
            </a:r>
            <a:r>
              <a:rPr lang="pt-BR" sz="2000" err="1">
                <a:solidFill>
                  <a:srgbClr val="FFFFFF"/>
                </a:solidFill>
                <a:latin typeface="Eastman Grotesque"/>
              </a:rPr>
              <a:t>peso_amostral</a:t>
            </a:r>
            <a:r>
              <a:rPr lang="pt-BR" sz="2000">
                <a:solidFill>
                  <a:srgbClr val="FFFFFF"/>
                </a:solidFill>
                <a:latin typeface="Eastman Grotesque"/>
              </a:rPr>
              <a:t> (coluna presente em todas as bases temáticas). Sem ponderação, os números representam apenas a amostra coletada, não o Brasil.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519683"/>
            <a:chOff x="0" y="0"/>
            <a:chExt cx="21640800" cy="692911"/>
          </a:xfrm>
        </p:grpSpPr>
        <p:sp>
          <p:nvSpPr>
            <p:cNvPr id="6" name="Freeform 6"/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16666684" y="89188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2">
            <a:extLst>
              <a:ext uri="{FF2B5EF4-FFF2-40B4-BE49-F238E27FC236}">
                <a16:creationId xmlns:a16="http://schemas.microsoft.com/office/drawing/2014/main" id="{C98DA36C-F700-5D08-043A-5DF0FEB615BC}"/>
              </a:ext>
            </a:extLst>
          </p:cNvPr>
          <p:cNvSpPr txBox="1">
            <a:spLocks/>
          </p:cNvSpPr>
          <p:nvPr/>
        </p:nvSpPr>
        <p:spPr>
          <a:xfrm>
            <a:off x="16990925" y="1601139"/>
            <a:ext cx="536749" cy="20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pt-BR" sz="12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100" smtClean="0">
                <a:effectLst/>
              </a:rPr>
              <a:pPr/>
              <a:t>11</a:t>
            </a:fld>
            <a:endParaRPr lang="pt-BR" sz="1100">
              <a:effectLst/>
            </a:endParaRPr>
          </a:p>
        </p:txBody>
      </p:sp>
      <p:sp>
        <p:nvSpPr>
          <p:cNvPr id="10" name="Espaço Reservado para Rodapé 5">
            <a:extLst>
              <a:ext uri="{FF2B5EF4-FFF2-40B4-BE49-F238E27FC236}">
                <a16:creationId xmlns:a16="http://schemas.microsoft.com/office/drawing/2014/main" id="{C871684B-0966-EF66-9818-AF800A22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82588" y="1578205"/>
            <a:ext cx="3035545" cy="230537"/>
          </a:xfrm>
        </p:spPr>
        <p:txBody>
          <a:bodyPr/>
          <a:lstStyle/>
          <a:p>
            <a:r>
              <a:rPr lang="pt-BR" sz="11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A5E6967-2781-F4C9-DB84-3176428DC9FB}"/>
              </a:ext>
            </a:extLst>
          </p:cNvPr>
          <p:cNvSpPr txBox="1"/>
          <p:nvPr/>
        </p:nvSpPr>
        <p:spPr>
          <a:xfrm>
            <a:off x="9632860" y="2054657"/>
            <a:ext cx="6667500" cy="1631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600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Peso </a:t>
            </a:r>
            <a:r>
              <a:rPr lang="en-US" sz="6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Amostral</a:t>
            </a:r>
            <a:endParaRPr lang="en-US" sz="6600">
              <a:solidFill>
                <a:srgbClr val="7A7A7A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l"/>
            <a:r>
              <a:rPr lang="en-US" sz="3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Regras</a:t>
            </a:r>
            <a:r>
              <a:rPr lang="en-US" sz="3600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3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Obrigatórias</a:t>
            </a:r>
            <a:endParaRPr lang="en-US" sz="3600">
              <a:solidFill>
                <a:srgbClr val="ED145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9BAF10D-317B-1522-163B-F06B41101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12" y="6200174"/>
            <a:ext cx="6064788" cy="673865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12CAE2D7-E8E9-C0C0-AA5B-D1A0E7714125}"/>
              </a:ext>
            </a:extLst>
          </p:cNvPr>
          <p:cNvSpPr txBox="1"/>
          <p:nvPr/>
        </p:nvSpPr>
        <p:spPr>
          <a:xfrm>
            <a:off x="513443" y="7545099"/>
            <a:ext cx="6966703" cy="1058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000">
                <a:solidFill>
                  <a:srgbClr val="FFFFFF"/>
                </a:solidFill>
                <a:latin typeface="Eastman Grotesque"/>
              </a:rPr>
              <a:t>Use esta chave para cruzar qualquer base com outra (ex.: unir BASE_SAUDE com DIM_PERFIL para ver sintomas por faixa etária).</a:t>
            </a:r>
            <a:endParaRPr lang="en-US" sz="2000">
              <a:solidFill>
                <a:srgbClr val="FFFFFF"/>
              </a:solidFill>
              <a:latin typeface="Eastman Grotesque"/>
              <a:sym typeface="Eastman Grotesque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4998C70-2E11-8966-BA77-E17D2151A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216" y="6566946"/>
            <a:ext cx="6064788" cy="33307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3BD5-74D3-F2AA-661F-D443CD67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B78961EB-7389-3C4F-6B80-59C405C85BE7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113B30-B920-14EC-E92F-8F682B768AB7}"/>
              </a:ext>
            </a:extLst>
          </p:cNvPr>
          <p:cNvSpPr txBox="1"/>
          <p:nvPr/>
        </p:nvSpPr>
        <p:spPr>
          <a:xfrm>
            <a:off x="336991" y="2431485"/>
            <a:ext cx="4312636" cy="5940088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Eastman Grotesque"/>
              </a:rPr>
              <a:t>Analisa a prevalência de cada sintoma, a severidade (quantidade de sintomas), a testagem</a:t>
            </a:r>
            <a:r>
              <a:rPr lang="pt-BR" sz="2000"/>
              <a:t>, 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as comorbidades e o perfil demográfico dos sintomáticos</a:t>
            </a:r>
            <a:r>
              <a:rPr lang="pt-BR" sz="2000"/>
              <a:t>.</a:t>
            </a:r>
          </a:p>
          <a:p>
            <a:endParaRPr lang="pt-BR" altLang="ko-KR" sz="200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  <a:p>
            <a:r>
              <a:rPr lang="pt-BR" sz="2400">
                <a:solidFill>
                  <a:schemeClr val="bg1"/>
                </a:solidFill>
                <a:latin typeface="Eastman Grotesque"/>
              </a:rPr>
              <a:t>Pode-se notar a partir da caracterização dos sintomas que a faixa etária mais afetada é a partir dos 60 anos, com o sexo masculino tendo mais síndrome gripal e sendo a tosse o maior sintoma </a:t>
            </a:r>
            <a:endParaRPr lang="en-US" altLang="ko-KR" sz="240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D17E5E-BF92-A165-721B-2AB8303A095F}"/>
              </a:ext>
            </a:extLst>
          </p:cNvPr>
          <p:cNvSpPr txBox="1"/>
          <p:nvPr/>
        </p:nvSpPr>
        <p:spPr>
          <a:xfrm>
            <a:off x="210322" y="590248"/>
            <a:ext cx="4948518" cy="1231106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en-US" altLang="ko-KR" sz="4000" err="1">
                <a:solidFill>
                  <a:srgbClr val="7A7A7A"/>
                </a:solidFill>
                <a:latin typeface="League Spartan"/>
              </a:rPr>
              <a:t>Caracterização</a:t>
            </a:r>
            <a:r>
              <a:rPr lang="en-US" altLang="ko-KR" sz="4000">
                <a:solidFill>
                  <a:srgbClr val="7A7A7A"/>
                </a:solidFill>
                <a:latin typeface="League Spartan"/>
              </a:rPr>
              <a:t> dos </a:t>
            </a:r>
            <a:r>
              <a:rPr lang="en-US" altLang="ko-KR" sz="4000" err="1">
                <a:solidFill>
                  <a:srgbClr val="7A7A7A"/>
                </a:solidFill>
                <a:latin typeface="League Spartan"/>
              </a:rPr>
              <a:t>Sintomas</a:t>
            </a:r>
            <a:endParaRPr lang="ko-KR" altLang="en-US" sz="40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B1CDA36C-3759-CE92-F713-322284EDA28F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70173C-FCDF-FF79-8D4F-5E5545BCE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8100"/>
            <a:ext cx="10638738" cy="510296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2A80377-15A6-8FAD-1067-E09C74934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196760"/>
            <a:ext cx="10638738" cy="505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4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45E0-6C85-2C7E-CD2A-C3D8BC09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F8613B3C-94E8-4730-77BD-ECACAA5C7A9B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EED641-8D10-63A5-DB14-5C4166EE2E5D}"/>
              </a:ext>
            </a:extLst>
          </p:cNvPr>
          <p:cNvSpPr txBox="1"/>
          <p:nvPr/>
        </p:nvSpPr>
        <p:spPr>
          <a:xfrm>
            <a:off x="224183" y="452125"/>
            <a:ext cx="5158840" cy="1231106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en-US" altLang="ko-KR" sz="4000" err="1">
                <a:solidFill>
                  <a:srgbClr val="7A7A7A"/>
                </a:solidFill>
                <a:latin typeface="League Spartan"/>
              </a:rPr>
              <a:t>Comportamento</a:t>
            </a:r>
            <a:r>
              <a:rPr lang="en-US" altLang="ko-KR" sz="4000">
                <a:solidFill>
                  <a:srgbClr val="7A7A7A"/>
                </a:solidFill>
                <a:latin typeface="League Spartan"/>
              </a:rPr>
              <a:t> </a:t>
            </a:r>
          </a:p>
          <a:p>
            <a:r>
              <a:rPr lang="en-US" altLang="ko-KR" sz="4000">
                <a:solidFill>
                  <a:srgbClr val="7A7A7A"/>
                </a:solidFill>
                <a:latin typeface="League Spartan"/>
              </a:rPr>
              <a:t>da </a:t>
            </a:r>
            <a:r>
              <a:rPr lang="en-US" altLang="ko-KR" sz="4000" err="1">
                <a:solidFill>
                  <a:srgbClr val="7A7A7A"/>
                </a:solidFill>
                <a:latin typeface="League Spartan"/>
              </a:rPr>
              <a:t>População</a:t>
            </a:r>
            <a:endParaRPr lang="ko-KR" altLang="en-US" sz="40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3FFBB5A3-2F09-7163-557A-3272FC2D1FB0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AC3D8256-3271-9B76-FA0E-6F468A7F69DC}"/>
              </a:ext>
            </a:extLst>
          </p:cNvPr>
          <p:cNvSpPr txBox="1"/>
          <p:nvPr/>
        </p:nvSpPr>
        <p:spPr>
          <a:xfrm>
            <a:off x="317941" y="2173456"/>
            <a:ext cx="4312636" cy="5262979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Eastman Grotesque"/>
              </a:rPr>
              <a:t>Analisa a adesão às medidas de proteção (isolamento social), a busca por atendimento, a situação no mercado de trabalho e o home office.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Pode-se notar que a maioria das pessoas (praticamente 50%) reduziu o contato e a busca por atendimento por síndrome gripal aumentou se comparado com a população geral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1CDD00-0FBC-7A02-834E-C5F4BF49C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14300"/>
            <a:ext cx="10854773" cy="494554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34F5BA-F6EB-CA26-7D8E-065979863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143500"/>
            <a:ext cx="10854773" cy="506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0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5C7E-4B48-6571-9A3A-B2A0E290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51FAA1E1-F2CB-95CD-C8C6-2E2C77DAEFF7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5005ED-ECF2-3971-04A5-03D66BCF7027}"/>
              </a:ext>
            </a:extLst>
          </p:cNvPr>
          <p:cNvSpPr txBox="1"/>
          <p:nvPr/>
        </p:nvSpPr>
        <p:spPr>
          <a:xfrm>
            <a:off x="210322" y="590248"/>
            <a:ext cx="4948518" cy="1354217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en-US" altLang="ko-KR" sz="4400" err="1">
                <a:solidFill>
                  <a:srgbClr val="7A7A7A"/>
                </a:solidFill>
                <a:latin typeface="League Spartan"/>
              </a:rPr>
              <a:t>Características</a:t>
            </a:r>
            <a:r>
              <a:rPr lang="en-US" altLang="ko-KR" sz="4400">
                <a:solidFill>
                  <a:srgbClr val="7A7A7A"/>
                </a:solidFill>
                <a:latin typeface="League Spartan"/>
              </a:rPr>
              <a:t> </a:t>
            </a:r>
            <a:r>
              <a:rPr lang="pt-BR" altLang="ko-KR" sz="4400">
                <a:solidFill>
                  <a:srgbClr val="7A7A7A"/>
                </a:solidFill>
                <a:latin typeface="League Spartan"/>
              </a:rPr>
              <a:t>Econômicas</a:t>
            </a:r>
            <a:endParaRPr lang="en-US" altLang="ko-KR" sz="44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03D10DC2-F5BD-4DDB-3936-42147396614E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71B67D66-246A-9629-089F-E9F903AA899D}"/>
              </a:ext>
            </a:extLst>
          </p:cNvPr>
          <p:cNvSpPr txBox="1"/>
          <p:nvPr/>
        </p:nvSpPr>
        <p:spPr>
          <a:xfrm>
            <a:off x="317941" y="2534713"/>
            <a:ext cx="4312636" cy="5262979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Eastman Grotesque"/>
              </a:rPr>
              <a:t>Analisa a cobertura dos auxílios governamentais, a sobreposição de benefícios, a supressão de renda e a distribuição da renda do trabalho.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Pode-se notar que quase metade da população recebeu auxílio emergencial, além disso, nota-se que a região norte e nordeste ficam abaixo da média nacional em renda efetiva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B2E432-7767-F59B-FEBE-EAEE885A8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72513"/>
            <a:ext cx="11079959" cy="47243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86C271C-4F5F-0075-52ED-F05039869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4956758"/>
            <a:ext cx="11079959" cy="521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7347-1FA8-07EC-A21A-8E83F9F5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AD58B3FB-7BBE-DDE1-9C45-58DEC248B0E5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0A80C-C683-71F1-622E-C93E0987D486}"/>
              </a:ext>
            </a:extLst>
          </p:cNvPr>
          <p:cNvSpPr txBox="1"/>
          <p:nvPr/>
        </p:nvSpPr>
        <p:spPr>
          <a:xfrm>
            <a:off x="210322" y="590248"/>
            <a:ext cx="4948518" cy="1292662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pt-BR" altLang="ko-KR" sz="4400">
                <a:solidFill>
                  <a:srgbClr val="7A7A7A"/>
                </a:solidFill>
                <a:latin typeface="League Spartan"/>
              </a:rPr>
              <a:t>Conclusão e </a:t>
            </a:r>
            <a:r>
              <a:rPr lang="pt-BR" altLang="ko-KR" sz="4000">
                <a:solidFill>
                  <a:srgbClr val="7A7A7A"/>
                </a:solidFill>
                <a:latin typeface="League Spartan"/>
              </a:rPr>
              <a:t>Recomendações</a:t>
            </a:r>
            <a:endParaRPr lang="en-US" altLang="ko-KR" sz="44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B7EFCBF7-6DD4-29AD-3678-17D796DD6E95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54DA5FE0-F281-16E5-7EAA-DD82DE732FCA}"/>
              </a:ext>
            </a:extLst>
          </p:cNvPr>
          <p:cNvSpPr txBox="1"/>
          <p:nvPr/>
        </p:nvSpPr>
        <p:spPr>
          <a:xfrm>
            <a:off x="317941" y="2534713"/>
            <a:ext cx="4312636" cy="5632311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A partir dos três meses de análise (set/out/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nov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) de 2020, temos os seguintes macro números: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Síndrome gripal (população): 2,2%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Buscou atendimento (sintomáticos): 1,3%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Ficou rigorosamente em casa: 13,3%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Sem Renda efetiva: 62%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A partir das análises, recomenda-se: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1C44C3-4F05-3E89-0020-7873557F0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80" y="47016"/>
            <a:ext cx="11592020" cy="346298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FC79083-954E-1D6E-3DE8-B97816963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80" y="3629594"/>
            <a:ext cx="11592020" cy="321375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FF3553-D5F2-7F1E-ADB0-CAAB737D8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80" y="6962936"/>
            <a:ext cx="11592020" cy="323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93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F35B-310A-350F-6E52-52C95045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D47AE057-8CF2-79C1-6ED1-6F6CFC06D8EE}"/>
              </a:ext>
            </a:extLst>
          </p:cNvPr>
          <p:cNvSpPr/>
          <p:nvPr/>
        </p:nvSpPr>
        <p:spPr>
          <a:xfrm>
            <a:off x="0" y="0"/>
            <a:ext cx="4948518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210570-D2D4-BCE9-8777-8ADD5AAF4D34}"/>
              </a:ext>
            </a:extLst>
          </p:cNvPr>
          <p:cNvSpPr txBox="1"/>
          <p:nvPr/>
        </p:nvSpPr>
        <p:spPr>
          <a:xfrm>
            <a:off x="210322" y="590248"/>
            <a:ext cx="4948518" cy="1292662"/>
          </a:xfrm>
          <a:prstGeom prst="rect">
            <a:avLst/>
          </a:prstGeom>
          <a:noFill/>
        </p:spPr>
        <p:txBody>
          <a:bodyPr wrap="square" lIns="108000" tIns="0" rIns="54000" bIns="0" rtlCol="0">
            <a:spAutoFit/>
          </a:bodyPr>
          <a:lstStyle/>
          <a:p>
            <a:r>
              <a:rPr lang="pt-BR" altLang="ko-KR" sz="4400">
                <a:solidFill>
                  <a:srgbClr val="7A7A7A"/>
                </a:solidFill>
                <a:latin typeface="League Spartan"/>
              </a:rPr>
              <a:t>Conclusão e </a:t>
            </a:r>
            <a:r>
              <a:rPr lang="pt-BR" altLang="ko-KR" sz="4000">
                <a:solidFill>
                  <a:srgbClr val="7A7A7A"/>
                </a:solidFill>
                <a:latin typeface="League Spartan"/>
              </a:rPr>
              <a:t>Recomendações</a:t>
            </a:r>
            <a:endParaRPr lang="en-US" altLang="ko-KR" sz="4400">
              <a:solidFill>
                <a:srgbClr val="7A7A7A"/>
              </a:solidFill>
              <a:latin typeface="League Spartan"/>
            </a:endParaRPr>
          </a:p>
        </p:txBody>
      </p:sp>
      <p:sp>
        <p:nvSpPr>
          <p:cNvPr id="97" name="L-Shape 96">
            <a:extLst>
              <a:ext uri="{FF2B5EF4-FFF2-40B4-BE49-F238E27FC236}">
                <a16:creationId xmlns:a16="http://schemas.microsoft.com/office/drawing/2014/main" id="{1D5030B5-7D3D-CC62-BF0C-0947846A4453}"/>
              </a:ext>
            </a:extLst>
          </p:cNvPr>
          <p:cNvSpPr/>
          <p:nvPr/>
        </p:nvSpPr>
        <p:spPr>
          <a:xfrm>
            <a:off x="224183" y="8858593"/>
            <a:ext cx="1211849" cy="1211849"/>
          </a:xfrm>
          <a:prstGeom prst="corner">
            <a:avLst>
              <a:gd name="adj1" fmla="val 23355"/>
              <a:gd name="adj2" fmla="val 23357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4050"/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6F35EEA0-C469-5159-5523-5B4D9BF2435F}"/>
              </a:ext>
            </a:extLst>
          </p:cNvPr>
          <p:cNvSpPr txBox="1"/>
          <p:nvPr/>
        </p:nvSpPr>
        <p:spPr>
          <a:xfrm>
            <a:off x="317941" y="2534713"/>
            <a:ext cx="4312636" cy="5632311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A partir dos três meses de análise (set/out/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nov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) de 2020, temos os seguintes macro números: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Síndrome gripal (população): 2,2%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Buscou atendimento (sintomáticos): 1,3%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Ficou rigorosamente em casa: 13,3%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Sem Renda efetiva: 62%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A partir das análises, recomenda-se: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0A5468-7C48-73B0-18F2-B985B5F20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001816"/>
            <a:ext cx="11394838" cy="314168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FF5B6F4-FCAB-35BA-6F58-5F5815F58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609533"/>
            <a:ext cx="11394838" cy="271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8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2D944-0C29-1935-D5F8-22A4C3E9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F2F7436-4765-075F-29D4-ADE3756D31DA}"/>
              </a:ext>
            </a:extLst>
          </p:cNvPr>
          <p:cNvSpPr txBox="1"/>
          <p:nvPr/>
        </p:nvSpPr>
        <p:spPr>
          <a:xfrm>
            <a:off x="1028700" y="2237728"/>
            <a:ext cx="81153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Análise</a:t>
            </a:r>
            <a:r>
              <a:rPr lang="en-US" sz="6600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6600" err="1">
                <a:solidFill>
                  <a:srgbClr val="7A7A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Refinada</a:t>
            </a:r>
            <a:endParaRPr lang="en-US" sz="6600">
              <a:solidFill>
                <a:srgbClr val="7A7A7A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8FB4DA-B2BB-EE5E-D108-11F59DA472AA}"/>
              </a:ext>
            </a:extLst>
          </p:cNvPr>
          <p:cNvGrpSpPr/>
          <p:nvPr/>
        </p:nvGrpSpPr>
        <p:grpSpPr>
          <a:xfrm>
            <a:off x="1028700" y="1028700"/>
            <a:ext cx="16230600" cy="519683"/>
            <a:chOff x="0" y="0"/>
            <a:chExt cx="21640800" cy="69291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4C33A7-AA24-459C-41B9-F499C48E3AAA}"/>
                </a:ext>
              </a:extLst>
            </p:cNvPr>
            <p:cNvSpPr/>
            <p:nvPr/>
          </p:nvSpPr>
          <p:spPr>
            <a:xfrm>
              <a:off x="19083629" y="0"/>
              <a:ext cx="2557171" cy="692911"/>
            </a:xfrm>
            <a:custGeom>
              <a:avLst/>
              <a:gdLst/>
              <a:ahLst/>
              <a:cxnLst/>
              <a:rect l="l" t="t" r="r" b="b"/>
              <a:pathLst>
                <a:path w="2557171" h="692911">
                  <a:moveTo>
                    <a:pt x="0" y="0"/>
                  </a:moveTo>
                  <a:lnTo>
                    <a:pt x="2557171" y="0"/>
                  </a:lnTo>
                  <a:lnTo>
                    <a:pt x="2557171" y="692911"/>
                  </a:lnTo>
                  <a:lnTo>
                    <a:pt x="0" y="69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5CBDC81-858D-17C2-DEC4-F257712E50D4}"/>
                </a:ext>
              </a:extLst>
            </p:cNvPr>
            <p:cNvSpPr/>
            <p:nvPr/>
          </p:nvSpPr>
          <p:spPr>
            <a:xfrm>
              <a:off x="0" y="0"/>
              <a:ext cx="5090584" cy="629960"/>
            </a:xfrm>
            <a:custGeom>
              <a:avLst/>
              <a:gdLst/>
              <a:ahLst/>
              <a:cxnLst/>
              <a:rect l="l" t="t" r="r" b="b"/>
              <a:pathLst>
                <a:path w="5090584" h="629960">
                  <a:moveTo>
                    <a:pt x="0" y="0"/>
                  </a:moveTo>
                  <a:lnTo>
                    <a:pt x="5090584" y="0"/>
                  </a:lnTo>
                  <a:lnTo>
                    <a:pt x="5090584" y="629960"/>
                  </a:lnTo>
                  <a:lnTo>
                    <a:pt x="0" y="629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129583E-FA27-CB0E-3C79-366C2B8609B0}"/>
              </a:ext>
            </a:extLst>
          </p:cNvPr>
          <p:cNvSpPr/>
          <p:nvPr/>
        </p:nvSpPr>
        <p:spPr>
          <a:xfrm>
            <a:off x="16666684" y="8918893"/>
            <a:ext cx="592616" cy="339407"/>
          </a:xfrm>
          <a:custGeom>
            <a:avLst/>
            <a:gdLst/>
            <a:ahLst/>
            <a:cxnLst/>
            <a:rect l="l" t="t" r="r" b="b"/>
            <a:pathLst>
              <a:path w="592616" h="339407">
                <a:moveTo>
                  <a:pt x="0" y="0"/>
                </a:moveTo>
                <a:lnTo>
                  <a:pt x="592616" y="0"/>
                </a:lnTo>
                <a:lnTo>
                  <a:pt x="592616" y="339407"/>
                </a:lnTo>
                <a:lnTo>
                  <a:pt x="0" y="339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2">
            <a:extLst>
              <a:ext uri="{FF2B5EF4-FFF2-40B4-BE49-F238E27FC236}">
                <a16:creationId xmlns:a16="http://schemas.microsoft.com/office/drawing/2014/main" id="{2575B09B-986E-0C5D-BDD0-FFF405167ABE}"/>
              </a:ext>
            </a:extLst>
          </p:cNvPr>
          <p:cNvSpPr txBox="1">
            <a:spLocks/>
          </p:cNvSpPr>
          <p:nvPr/>
        </p:nvSpPr>
        <p:spPr>
          <a:xfrm>
            <a:off x="16990925" y="1601139"/>
            <a:ext cx="536749" cy="20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pt-BR" sz="12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187E7-9586-4671-89A0-1B2700A8A8C1}" type="slidenum">
              <a:rPr lang="pt-BR" sz="1100" smtClean="0">
                <a:effectLst/>
              </a:rPr>
              <a:pPr/>
              <a:t>17</a:t>
            </a:fld>
            <a:endParaRPr lang="pt-BR" sz="1100">
              <a:effectLst/>
            </a:endParaRPr>
          </a:p>
        </p:txBody>
      </p:sp>
      <p:sp>
        <p:nvSpPr>
          <p:cNvPr id="10" name="Espaço Reservado para Rodapé 5">
            <a:extLst>
              <a:ext uri="{FF2B5EF4-FFF2-40B4-BE49-F238E27FC236}">
                <a16:creationId xmlns:a16="http://schemas.microsoft.com/office/drawing/2014/main" id="{9F158259-3DE2-EC76-1633-ADAEE190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82588" y="1578205"/>
            <a:ext cx="3035545" cy="230537"/>
          </a:xfrm>
        </p:spPr>
        <p:txBody>
          <a:bodyPr/>
          <a:lstStyle/>
          <a:p>
            <a:r>
              <a:rPr lang="pt-BR" sz="1100">
                <a:solidFill>
                  <a:schemeClr val="bg1"/>
                </a:solidFill>
              </a:rPr>
              <a:t>Tech Challenger | Fase 02</a:t>
            </a:r>
          </a:p>
        </p:txBody>
      </p:sp>
      <p:sp>
        <p:nvSpPr>
          <p:cNvPr id="12" name="TextBox 61">
            <a:extLst>
              <a:ext uri="{FF2B5EF4-FFF2-40B4-BE49-F238E27FC236}">
                <a16:creationId xmlns:a16="http://schemas.microsoft.com/office/drawing/2014/main" id="{7F0F3B20-24D1-C89C-A09D-A386F153A83D}"/>
              </a:ext>
            </a:extLst>
          </p:cNvPr>
          <p:cNvSpPr txBox="1"/>
          <p:nvPr/>
        </p:nvSpPr>
        <p:spPr>
          <a:xfrm>
            <a:off x="1028700" y="3253391"/>
            <a:ext cx="14516100" cy="3046988"/>
          </a:xfrm>
          <a:prstGeom prst="rect">
            <a:avLst/>
          </a:prstGeom>
          <a:noFill/>
        </p:spPr>
        <p:txBody>
          <a:bodyPr wrap="square" lIns="108000" rIns="162000" rtlCol="0">
            <a:spAutoFit/>
          </a:bodyPr>
          <a:lstStyle/>
          <a:p>
            <a:r>
              <a:rPr lang="pt-BR" sz="2400">
                <a:solidFill>
                  <a:schemeClr val="bg1"/>
                </a:solidFill>
                <a:latin typeface="Eastman Grotesque"/>
              </a:rPr>
              <a:t>Recomendamos para verificar toda a análise aprofundada feita a partir dos dados da PNAD, rodar o </a:t>
            </a:r>
            <a:r>
              <a:rPr lang="pt-BR" sz="2400" err="1">
                <a:solidFill>
                  <a:schemeClr val="bg1"/>
                </a:solidFill>
                <a:latin typeface="Eastman Grotesque"/>
              </a:rPr>
              <a:t>Streamlit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 disponível em </a:t>
            </a:r>
            <a:r>
              <a:rPr lang="pt-BR" sz="2400" err="1">
                <a:solidFill>
                  <a:schemeClr val="bg1"/>
                </a:solidFill>
                <a:latin typeface="Eastman Grotesque"/>
              </a:rPr>
              <a:t>code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/</a:t>
            </a:r>
            <a:r>
              <a:rPr lang="pt-BR" sz="2400" err="1">
                <a:solidFill>
                  <a:schemeClr val="bg1"/>
                </a:solidFill>
                <a:latin typeface="Eastman Grotesque"/>
              </a:rPr>
              <a:t>dashboard_analise_refinada.py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 do </a:t>
            </a:r>
            <a:r>
              <a:rPr lang="pt-BR" sz="2400" u="sng">
                <a:solidFill>
                  <a:schemeClr val="bg1"/>
                </a:solidFill>
                <a:latin typeface="Eastman Grotesque"/>
              </a:rPr>
              <a:t>Github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: https://github.com/naruto112/pnad_covid_fase3.git na </a:t>
            </a:r>
            <a:r>
              <a:rPr lang="pt-BR" sz="2400" err="1">
                <a:solidFill>
                  <a:schemeClr val="bg1"/>
                </a:solidFill>
                <a:latin typeface="Eastman Grotesque"/>
              </a:rPr>
              <a:t>branch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 </a:t>
            </a:r>
            <a:r>
              <a:rPr lang="pt-BR" sz="2400" err="1">
                <a:solidFill>
                  <a:schemeClr val="bg1"/>
                </a:solidFill>
                <a:latin typeface="Eastman Grotesque"/>
              </a:rPr>
              <a:t>main</a:t>
            </a:r>
            <a:r>
              <a:rPr lang="pt-BR" sz="2400">
                <a:solidFill>
                  <a:schemeClr val="bg1"/>
                </a:solidFill>
                <a:latin typeface="Eastman Grotesque"/>
              </a:rPr>
              <a:t>.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Neste Github consta todos os arquivos, o fluxo ETL e toda a análise final feita em 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Dataviz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, utilizando a biblioteca do 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Streamlit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.</a:t>
            </a:r>
          </a:p>
          <a:p>
            <a:endParaRPr lang="pt-BR" altLang="ko-KR" sz="2400">
              <a:solidFill>
                <a:schemeClr val="bg1"/>
              </a:solidFill>
              <a:latin typeface="Eastman Grotesque"/>
            </a:endParaRPr>
          </a:p>
          <a:p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No Readme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.md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 é possível verificar como rodar de forma segura o </a:t>
            </a:r>
            <a:r>
              <a:rPr lang="pt-BR" altLang="ko-KR" sz="2400" err="1">
                <a:solidFill>
                  <a:schemeClr val="bg1"/>
                </a:solidFill>
                <a:latin typeface="Eastman Grotesque"/>
              </a:rPr>
              <a:t>Streamlit</a:t>
            </a:r>
            <a:r>
              <a:rPr lang="pt-BR" altLang="ko-KR" sz="2400">
                <a:solidFill>
                  <a:schemeClr val="bg1"/>
                </a:solidFill>
                <a:latin typeface="Eastman Grotesque"/>
              </a:rPr>
              <a:t> localmente.</a:t>
            </a:r>
          </a:p>
        </p:txBody>
      </p:sp>
    </p:spTree>
    <p:extLst>
      <p:ext uri="{BB962C8B-B14F-4D97-AF65-F5344CB8AC3E}">
        <p14:creationId xmlns:p14="http://schemas.microsoft.com/office/powerpoint/2010/main" val="2305598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4954" y="4243184"/>
            <a:ext cx="11998092" cy="186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2"/>
              </a:lnSpc>
            </a:pPr>
            <a:r>
              <a:rPr lang="pt-BR" sz="12983" noProof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Obrigado</a:t>
            </a:r>
            <a:r>
              <a:rPr lang="pt-BR" sz="12983" noProof="0">
                <a:solidFill>
                  <a:srgbClr val="ED14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15000" y="7282066"/>
            <a:ext cx="11544300" cy="44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693"/>
              </a:lnSpc>
            </a:pP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Comportamento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da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população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na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</a:t>
            </a:r>
            <a:r>
              <a:rPr lang="en-US" sz="2638" b="1" err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época</a:t>
            </a:r>
            <a:r>
              <a:rPr lang="en-US" sz="2638" b="1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da pandemia da COVID-19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86852" y="7819726"/>
            <a:ext cx="7272448" cy="45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93"/>
              </a:lnSpc>
            </a:pPr>
            <a:r>
              <a:rPr lang="pt-BR" sz="2638" b="1" noProof="0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Turma 12DTAT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282066"/>
            <a:ext cx="3974894" cy="45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3"/>
              </a:lnSpc>
            </a:pPr>
            <a:r>
              <a:rPr lang="pt-BR" sz="2638" b="1" noProof="0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Alunos: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848301"/>
            <a:ext cx="324052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pt-BR" sz="1200" noProof="0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Arthur Batista Aragão</a:t>
            </a:r>
          </a:p>
        </p:txBody>
      </p:sp>
      <p:sp>
        <p:nvSpPr>
          <p:cNvPr id="7" name="AutoShape 7"/>
          <p:cNvSpPr/>
          <p:nvPr/>
        </p:nvSpPr>
        <p:spPr>
          <a:xfrm>
            <a:off x="5530506" y="6129541"/>
            <a:ext cx="7226987" cy="0"/>
          </a:xfrm>
          <a:prstGeom prst="line">
            <a:avLst/>
          </a:prstGeom>
          <a:ln w="95250" cap="flat">
            <a:solidFill>
              <a:srgbClr val="ED14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8" name="TextBox 8"/>
          <p:cNvSpPr txBox="1"/>
          <p:nvPr/>
        </p:nvSpPr>
        <p:spPr>
          <a:xfrm>
            <a:off x="1028700" y="8160721"/>
            <a:ext cx="324052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pt-BR" sz="1200" noProof="0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Marcus Vinicius da Silva Ferreira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473141"/>
            <a:ext cx="3240528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pt-BR" sz="1200" noProof="0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Renato </a:t>
            </a:r>
            <a:r>
              <a:rPr lang="pt-BR" sz="1200" noProof="0" err="1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Moschetta</a:t>
            </a:r>
            <a:r>
              <a:rPr lang="pt-BR" sz="1200" noProof="0">
                <a:solidFill>
                  <a:srgbClr val="FFFFFF"/>
                </a:solidFill>
                <a:latin typeface="Eastman Grotesque"/>
                <a:ea typeface="Eastman Grotesque"/>
                <a:cs typeface="Eastman Grotesque"/>
                <a:sym typeface="Eastman Grotesque"/>
              </a:rPr>
              <a:t> de Souza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18</Slides>
  <Notes>6</Notes>
  <HiddenSlides>3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Monochrome Project Proposal Presentation</dc:title>
  <dc:creator>Arthur Aragão</dc:creator>
  <cp:revision>66</cp:revision>
  <dcterms:created xsi:type="dcterms:W3CDTF">2006-08-16T00:00:00Z</dcterms:created>
  <dcterms:modified xsi:type="dcterms:W3CDTF">2026-05-29T23:11:12Z</dcterms:modified>
  <dc:identifier>DAHDAXsoFT0</dc:identifier>
</cp:coreProperties>
</file>